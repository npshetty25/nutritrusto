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164592" cy="5084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40080"/>
            <a:ext cx="786384" cy="7863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64008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463040" y="676656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NutriTrusto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481328" y="12435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Smart Pantry Companion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481328" y="1618488"/>
            <a:ext cx="713232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81328" y="1783080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 of Real-Time Nutritional Transparency and Smart Pantry Management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Food Waste Reduction and Health Awareness Among Urban College Students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2761488"/>
            <a:ext cx="4206240" cy="201168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29077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32552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Nirav P Shetty — 230905213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" y="3593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Prisha ___________ — ___________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39319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Sumit ___________ — ___________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" y="42702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Abhyudith ___________ — ___________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2761488"/>
            <a:ext cx="4206240" cy="201168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29077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32552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CSE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00600" y="3593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Guide's Name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39319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Year: H&amp;M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00600" y="42702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Phase: Empathize &amp; Define (15 marks)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9776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420624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" y="1060704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87552" y="133502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and key metrics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39776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60120"/>
            <a:ext cx="420624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115568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93792" y="1060704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93792" y="133502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and Why Us?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1755648"/>
            <a:ext cx="39776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1755648"/>
            <a:ext cx="420624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911096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87552" y="1856232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Research &amp; ICP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87552" y="213055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and methods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3440" y="1755648"/>
            <a:ext cx="39776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755648"/>
            <a:ext cx="420624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911096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93792" y="1856232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Artifacts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93792" y="213055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map evidence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2551176"/>
            <a:ext cx="39776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2551176"/>
            <a:ext cx="420624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706624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87552" y="2651760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Discovery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87552" y="292608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Discovery-to-definition process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63440" y="2551176"/>
            <a:ext cx="39776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551176"/>
            <a:ext cx="420624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706624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93792" y="2651760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Problem Definition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93792" y="292608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 and validated problem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3346704"/>
            <a:ext cx="39776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3346704"/>
            <a:ext cx="420624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50215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87552" y="3447288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87552" y="372160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Theories and research gap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63440" y="3346704"/>
            <a:ext cx="39776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3346704"/>
            <a:ext cx="420624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3502152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193792" y="3447288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Model &amp; Hypotheses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93792" y="372160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model and H1-H5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57200" y="4142232"/>
            <a:ext cx="39776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7200" y="4142232"/>
            <a:ext cx="420624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29768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87552" y="4242816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(2 Slides)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987552" y="451713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sampling, analysis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663440" y="4142232"/>
            <a:ext cx="39776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663440" y="4142232"/>
            <a:ext cx="420624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63440" y="4297680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193792" y="4242816"/>
            <a:ext cx="3337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(1 Slide)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193792" y="451713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development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Abstract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8321040" cy="141732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097280"/>
            <a:ext cx="7955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NutriTrusto is a smart pantry companion designed to reduce food waste and improve health awareness among urban college students. The solution combines real-time barcode nutrition transparency, pantry expiry tracking, and AI-based recipe suggestions to convert passive food ownership into active food management. This proposal follows Stanford d.School Phase 1 (Empathize &amp; Define), using interview, observational, and survey data to frame a validated problem statement grounded in Health Belief Model, TAM, and Nudge Theory.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2514600"/>
            <a:ext cx="1975104" cy="91440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2651760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Space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2907792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food waste + nutrition confusion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96312" y="2514600"/>
            <a:ext cx="1975104" cy="91440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87752" y="2651760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587752" y="2907792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college students (18-25)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81144" y="2514600"/>
            <a:ext cx="1975104" cy="91440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72584" y="2651760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72584" y="2907792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Mixed-method design thinking approach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665976" y="2514600"/>
            <a:ext cx="1975104" cy="91440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57416" y="2651760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Phase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57416" y="2907792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Empathize &amp; Define (Proposal)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1480" y="3611880"/>
            <a:ext cx="4069080" cy="114300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611880"/>
            <a:ext cx="4069080" cy="114300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78561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Health Scanner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4059936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decodes packaged-food nutrition and highlights risk signals in plain language for fast student decisions.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46320" y="378561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Pantry Manager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4059936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freshness timelines, triggers expiry nudges, and recommends recipes from available ingredients to reduce waste.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+ Why Us?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60120"/>
            <a:ext cx="82296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8813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the 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138988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students, we experience weekly pantry spoilage and label confusion in real buying contexts.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1480" y="22402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240280"/>
            <a:ext cx="82296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36829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Gap Identified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67004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tools are fragmented: either label-only or pantry-only, with weak India-specific context.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35204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3520440"/>
            <a:ext cx="82296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6484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Social Impact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395020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student-first intervention can improve health behavior and reduce avoidable food wastage.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92040" y="10972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40680" y="119786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proximity to student pantry behavior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92040" y="20116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211226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capability in AI + full-stack delivery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92040" y="29260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40680" y="302666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India-specific insight and cultural context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92040" y="38404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394106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Validation-first approach before solution locking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RESEARCH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Research &amp; ICP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4023360" cy="388620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14400"/>
            <a:ext cx="4023360" cy="301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6012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CUSTOMER PROFILE (ICP)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3258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91640" y="13258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college students (18-25)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17830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691640" y="17830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/ Tier-1 university clusters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" y="22402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691640" y="22402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Smartphone-first, convenience-driven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66928" y="26974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691640" y="2697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expiry-related wastage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6928" y="31546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691640" y="31546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label confusion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6928" y="36118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691640" y="36118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Healthier, cheaper, low-effort choices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66928" y="40690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Comfort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691640" y="40690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63440" y="914400"/>
            <a:ext cx="1965960" cy="178308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91456" y="1024128"/>
            <a:ext cx="1709928" cy="2103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91456" y="1042416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791456" y="1335024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Interviews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91456" y="1783080"/>
            <a:ext cx="1709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deep interviews with students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6720840" y="914400"/>
            <a:ext cx="1965960" cy="178308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48856" y="1024128"/>
            <a:ext cx="1709928" cy="2103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48856" y="1042416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848856" y="1335024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Observational Study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48856" y="1783080"/>
            <a:ext cx="1709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 behavior and spoilage checks</a:t>
            </a:r>
            <a:endParaRPr lang="en-US" sz="770" dirty="0"/>
          </a:p>
        </p:txBody>
      </p:sp>
      <p:sp>
        <p:nvSpPr>
          <p:cNvPr id="32" name="Shape 30"/>
          <p:cNvSpPr/>
          <p:nvPr/>
        </p:nvSpPr>
        <p:spPr>
          <a:xfrm>
            <a:off x="4663440" y="2852928"/>
            <a:ext cx="1965960" cy="178308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91456" y="2962656"/>
            <a:ext cx="1709928" cy="210312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91456" y="2980944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791456" y="3273552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Survey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91456" y="3721608"/>
            <a:ext cx="1709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form across campuses</a:t>
            </a:r>
            <a:endParaRPr lang="en-US" sz="770" dirty="0"/>
          </a:p>
        </p:txBody>
      </p:sp>
      <p:sp>
        <p:nvSpPr>
          <p:cNvPr id="37" name="Shape 35"/>
          <p:cNvSpPr/>
          <p:nvPr/>
        </p:nvSpPr>
        <p:spPr>
          <a:xfrm>
            <a:off x="6720840" y="2852928"/>
            <a:ext cx="1965960" cy="178308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848856" y="2962656"/>
            <a:ext cx="1709928" cy="2103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48856" y="2980944"/>
            <a:ext cx="1709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848856" y="3273552"/>
            <a:ext cx="1709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48856" y="3721608"/>
            <a:ext cx="17099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FactsScan, TruthIn, KitchenPal gap map</a:t>
            </a:r>
            <a:endParaRPr lang="en-US" sz="7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ARTIFACTS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977640" cy="1737360"/>
          </a:xfrm>
          <a:prstGeom prst="rect">
            <a:avLst/>
          </a:prstGeom>
          <a:solidFill>
            <a:srgbClr val="E1F5E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5216" y="10881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 &amp; FEELS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feel bad wasting food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healthy choices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get confused by labels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3977640" cy="17373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37176" y="10881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92040" y="137160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say avoid junk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 discuss diet trends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feeds push clean eating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816352"/>
            <a:ext cx="3977640" cy="173736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5216" y="29443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&amp; DOES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227832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quickly under time pressure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expiry more than nutrition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Forgets what is already in pantry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09160" y="2816352"/>
            <a:ext cx="3977640" cy="173736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37176" y="29443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92040" y="3227832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stock in shared spaces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trusted food score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use leftovers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DISCOVERY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Discovery &amp; Definition Process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06424" y="1170432"/>
            <a:ext cx="10972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544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2024" y="1810512"/>
            <a:ext cx="1188720" cy="768096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" y="1947672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 audits + pantry walkthroughs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2203704" y="914400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914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07208" y="1170432"/>
            <a:ext cx="10972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20824" y="15544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92808" y="1810512"/>
            <a:ext cx="1188720" cy="768096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947672" y="1947672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interviews with students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3904488" y="914400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04488" y="914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07992" y="1170432"/>
            <a:ext cx="10972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21608" y="15544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593592" y="1810512"/>
            <a:ext cx="1188720" cy="768096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48456" y="1947672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perception validation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5605272" y="914400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05272" y="914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08776" y="1170432"/>
            <a:ext cx="10972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22392" y="15544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294376" y="1810512"/>
            <a:ext cx="1188720" cy="768096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349240" y="1947672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clustering and pattern checks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7306056" y="914400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06056" y="914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23176" y="15544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995160" y="1810512"/>
            <a:ext cx="1188720" cy="768096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050024" y="1947672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 refinement + evidence mapping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411480" y="2834640"/>
            <a:ext cx="2697480" cy="173736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48640" y="2999232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often realize food expired only when I open the fridge."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8640" y="407822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A, 2nd Year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27832" y="2834640"/>
            <a:ext cx="2697480" cy="173736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364992" y="2999232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read calories but do not understand full label implications."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364992" y="407822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B, 3rd Year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044184" y="2834640"/>
            <a:ext cx="2697480" cy="173736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181344" y="2999232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I had quick recipe guidance, I would waste less food."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81344" y="407822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C, 1st Year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Problem Definition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832104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5216" y="1069848"/>
            <a:ext cx="7955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college students need real-time food transparency and smart pantry guidance because they lack quick, trustworthy methods to reduce waste and make healthier choices within budget constraints.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1783080"/>
            <a:ext cx="83210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783080"/>
            <a:ext cx="82296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9019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PROBLEM STATEMENT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76072" y="217627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and interviews indicate frequent student food spoilage, low label comprehension, and weak ingredient utilization due to fragmented tools and time pressure.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11480" y="3063240"/>
            <a:ext cx="1965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3063240"/>
            <a:ext cx="292608" cy="1664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236976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5528" y="3218688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food waste tracking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795528" y="3803904"/>
            <a:ext cx="1481328" cy="256032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384048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by Q2, Q3, Q8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496312" y="3063240"/>
            <a:ext cx="1965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96312" y="3063240"/>
            <a:ext cx="292608" cy="1664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96312" y="3236976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80360" y="3218688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label confusion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2880360" y="3803904"/>
            <a:ext cx="1481328" cy="256032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0360" y="384048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by Q4, Q5, Q10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581144" y="3063240"/>
            <a:ext cx="1965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81144" y="3063240"/>
            <a:ext cx="292608" cy="1664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81144" y="3236976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65192" y="3218688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recipe-inventory linkage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4965192" y="3803904"/>
            <a:ext cx="1481328" cy="256032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65192" y="384048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by Q6, Q7, Q13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665976" y="3063240"/>
            <a:ext cx="19659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65976" y="3063240"/>
            <a:ext cx="292608" cy="1664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65976" y="3236976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50024" y="3218688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gap in recommendations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7050024" y="3803904"/>
            <a:ext cx="1481328" cy="256032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50024" y="384048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by Q1, Q14, Q20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Underpinning Theories + Research Gap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8321040" cy="932688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033272"/>
            <a:ext cx="310896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6070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1498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Belief Model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15000" y="101498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Rosenstock, 1974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14400" y="1325880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risk and benefits influence preventive decisions in food and health behavior.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2011680"/>
            <a:ext cx="8321040" cy="932688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0352" y="2130552"/>
            <a:ext cx="310896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15798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211226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Acceptance Model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15000" y="211226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Davis, 1989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14400" y="2423160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usefulness and ease of use shape adoption of digital food-assistance tools.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3108960"/>
            <a:ext cx="8321040" cy="932688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" y="3227832"/>
            <a:ext cx="310896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255264"/>
            <a:ext cx="310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320954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Theory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15000" y="320954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Thaler &amp; Sunstein, 2008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14400" y="3520440"/>
            <a:ext cx="7635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Low-friction prompts like expiry alerts can guide better decisions without coercion.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" y="4343400"/>
            <a:ext cx="8321040" cy="621792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4343400"/>
            <a:ext cx="8321040" cy="182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4622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28800" y="446227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student-centric Indian solution combines real-time nutritional transparency, pantry intelligence, and behavior nudges in one validated framework.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Summary Table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32688"/>
          <a:ext cx="8412480" cy="3886200"/>
        </p:xfrm>
        <a:graphic>
          <a:graphicData uri="http://schemas.openxmlformats.org/drawingml/2006/table">
            <a:tbl>
              <a:tblPr/>
              <a:tblGrid>
                <a:gridCol w="1874520"/>
                <a:gridCol w="2148840"/>
                <a:gridCol w="2057400"/>
                <a:gridCol w="233172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 &amp; 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 Focus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to NutriTrusto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Nikolaou et al., 2019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waste behavior in student settings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Awareness cues reduce avoidable waste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expiry-alert intervention logic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Bhatt &amp; Singh, 2020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Barcode-based nutrition transparency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trust scan-led interpretation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Validates scanner-led UX direction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Vanderlee et al., 2021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Nutrition label interface usability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scoring improves comprehension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visual freshness/risk indicators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Gupta et al., 2022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recipes with diet filters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Personalized suggestions increase usage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pantry-to-recipe intelligence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Rathore &amp; Jain, 2023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 adoption in urban India youth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Utility + trust are adoption drivers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TAM-led hypothesis structure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 + Conceptual Model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86384" y="99669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O1: Measure food waste frequency and triggers among urban college students.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37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6384" y="174650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O2: Evaluate trust impact of real-time barcode nutritional transparency.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48716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87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86384" y="24963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O3: Assess effect of AI pantry recipes on ingredient utilization.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3236976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36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6384" y="32461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O4: Examine adoption intent under freemium experience model.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0" y="9144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Variables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1143000"/>
            <a:ext cx="1554480" cy="41148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28032" y="1261872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clarity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754880" y="1673352"/>
            <a:ext cx="1554480" cy="41148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28032" y="1792224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nudges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754880" y="2203704"/>
            <a:ext cx="1554480" cy="41148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28032" y="2322576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recipes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754880" y="2734056"/>
            <a:ext cx="1554480" cy="41148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28032" y="2852928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filtering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754880" y="3264408"/>
            <a:ext cx="1554480" cy="41148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28032" y="3383280"/>
            <a:ext cx="1408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trust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419088" y="2331720"/>
            <a:ext cx="457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9144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Variables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040880" y="1325880"/>
            <a:ext cx="1554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132320" y="14813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waste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040880" y="1993392"/>
            <a:ext cx="1554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132320" y="21488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Healthier choices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040880" y="2660904"/>
            <a:ext cx="1554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132320" y="281635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intent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029200" y="4352544"/>
            <a:ext cx="356616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02352" y="449884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Moderator: Dietary preference and prior nutrition-app usage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HYPOTHESES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(H1-H5)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32688"/>
            <a:ext cx="83210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32688"/>
            <a:ext cx="411480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0972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info improves healthier purchase decisions.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936992" y="1078992"/>
            <a:ext cx="713232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36992" y="1188720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11480" y="1737360"/>
            <a:ext cx="83210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737360"/>
            <a:ext cx="411480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20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19019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alerts reduce avoidable food wastage.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936992" y="1883664"/>
            <a:ext cx="713232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36992" y="1993392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11480" y="2542032"/>
            <a:ext cx="83210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542032"/>
            <a:ext cx="411480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7249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270662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recipes increase ingredient utilization.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936992" y="2688336"/>
            <a:ext cx="713232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36992" y="279806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11480" y="3346704"/>
            <a:ext cx="83210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346704"/>
            <a:ext cx="411480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529584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351129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filtering increases trust and engagement.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936992" y="3493008"/>
            <a:ext cx="713232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36992" y="3602736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11480" y="4151376"/>
            <a:ext cx="83210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4151376"/>
            <a:ext cx="411480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33425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43159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freshness ratings outperform raw labels.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936992" y="4297680"/>
            <a:ext cx="713232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36992" y="4407408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 + TAM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11480" y="480060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 HBM = Health Belief Model | TAM = Technology Acceptance Model | Nudge = Nudge Theory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 (1/2)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4069080" cy="96012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" y="1069848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76072" y="138988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+ Exploratory mixed-method design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069080" cy="96012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28032" y="1069848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Approach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828032" y="138988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(primary survey) + Qualitative (user interviews)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1480" y="2057400"/>
            <a:ext cx="4069080" cy="96012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6072" y="2212848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Population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76072" y="253288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students aged 18-25 living independently in urban India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2057400"/>
            <a:ext cx="4069080" cy="96012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28032" y="2212848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Method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28032" y="253288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Purposive + snowball sampling via college networks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3200400"/>
            <a:ext cx="4069080" cy="96012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6072" y="3355848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76072" y="367588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100 respondents (target: 150)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3440" y="3200400"/>
            <a:ext cx="4069080" cy="960120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28032" y="3355848"/>
            <a:ext cx="3703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Frame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28032" y="367588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Multi-campus student communities and hostel clusters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" y="443484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Plan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4663440"/>
            <a:ext cx="1984248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36592"/>
            <a:ext cx="1892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1-2: Instrument finalization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96312" y="4663440"/>
            <a:ext cx="1984248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42032" y="4736592"/>
            <a:ext cx="1892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3-4: Pilot + interview rounds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581144" y="4663440"/>
            <a:ext cx="1984248" cy="3291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26864" y="4736592"/>
            <a:ext cx="1892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5-6: Survey deployment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665976" y="4663440"/>
            <a:ext cx="1984248" cy="32918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11696" y="4736592"/>
            <a:ext cx="1892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7-8: Analysis + synthesis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Methodology (2/2)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4069080" cy="804672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" y="102412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576072" y="1298448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questionnaire (Google Forms) + in-app usage analytics</a:t>
            </a:r>
            <a:endParaRPr lang="en-US" sz="77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069080" cy="804672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28032" y="1024128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Scale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4828032" y="1298448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5-point Likert scale (1 = Strongly Disagree to 5 = Strongly Agree)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411480" y="1856232"/>
            <a:ext cx="4069080" cy="804672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6072" y="1965960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576072" y="224028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statistics, Likert analysis, hypothesis testing</a:t>
            </a:r>
            <a:endParaRPr lang="en-US" sz="770" dirty="0"/>
          </a:p>
        </p:txBody>
      </p:sp>
      <p:sp>
        <p:nvSpPr>
          <p:cNvPr id="14" name="Shape 12"/>
          <p:cNvSpPr/>
          <p:nvPr/>
        </p:nvSpPr>
        <p:spPr>
          <a:xfrm>
            <a:off x="4663440" y="1856232"/>
            <a:ext cx="4069080" cy="804672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28032" y="1965960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Check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4828032" y="224028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n=20, Cronbach alpha target &gt;= 0.70</a:t>
            </a:r>
            <a:endParaRPr lang="en-US" sz="770" dirty="0"/>
          </a:p>
        </p:txBody>
      </p:sp>
      <p:sp>
        <p:nvSpPr>
          <p:cNvPr id="17" name="Shape 15"/>
          <p:cNvSpPr/>
          <p:nvPr/>
        </p:nvSpPr>
        <p:spPr>
          <a:xfrm>
            <a:off x="411480" y="2798064"/>
            <a:ext cx="4069080" cy="804672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6072" y="290779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Privacy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576072" y="318211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responses and consent-backed participation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4663440" y="2798064"/>
            <a:ext cx="4069080" cy="804672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28032" y="2907792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4828032" y="3182112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Next.js, Supabase, Gemini AI, Open Food Facts API, Vercel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411480" y="3739896"/>
            <a:ext cx="4069080" cy="804672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76072" y="3849624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576072" y="4123944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validity + construct alignment to HBM, TAM, Nudge</a:t>
            </a:r>
            <a:endParaRPr lang="en-US" sz="770" dirty="0"/>
          </a:p>
        </p:txBody>
      </p:sp>
      <p:sp>
        <p:nvSpPr>
          <p:cNvPr id="26" name="Shape 24"/>
          <p:cNvSpPr/>
          <p:nvPr/>
        </p:nvSpPr>
        <p:spPr>
          <a:xfrm>
            <a:off x="4663440" y="3739896"/>
            <a:ext cx="4069080" cy="804672"/>
          </a:xfrm>
          <a:prstGeom prst="rect">
            <a:avLst/>
          </a:prstGeom>
          <a:solidFill>
            <a:srgbClr val="11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28032" y="3849624"/>
            <a:ext cx="3703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4828032" y="4123944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problem-prioritization matrix and hypothesis map</a:t>
            </a:r>
            <a:endParaRPr lang="en-US" sz="77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Development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8321040" cy="5029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88136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Scale: 5-point Likert (1 = Strongly Disagree to 5 = Strongly Agree)  |  Estimated completion: 4-6 minutes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572768"/>
            <a:ext cx="406908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8249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- Demographics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07568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group, gender, city, living situation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frequency and monthly grocery spend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1572768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572768"/>
            <a:ext cx="406908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68249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- Nutritional Awareness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00600" y="207568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read labels before buying packaged food?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of Nutri-Score / FSSAI ratings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320040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200400"/>
            <a:ext cx="406908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101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- Pantry Management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37033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 groceries expire before use?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method of tracking pantry items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3200400"/>
            <a:ext cx="4069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200400"/>
            <a:ext cx="406908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31012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- App Usability (TAM)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0600" y="37033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usefulness of barcode scanner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use and intent to continue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15</Slides>
	<Notes>15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15</vt:i4></vt:variant>
		</vt:vector>
	</HeadingPairs>
	<TitlesOfParts>
		<vt:vector size="18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<vt:lpstr>Slide 11</vt:lpstr><vt:lpstr>Slide 12</vt:lpstr><vt:lpstr>Slide 13</vt:lpstr><vt:lpstr>Slide 14</vt:lpstr><vt:lpstr>Slide 15</vt:lpstr>
		</vt:vector>
	</TitlesOfParts>
	<Company>CSE H&M 2026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NutriTrusto — Your Smart Pantry Companion</dc:title>
  <dc:subject>Minor Project Proposal - Phase 1</dc:subject>
  <dc:creator>NutriTrusto Team</dc:creator>
  <cp:lastModifiedBy>NutriTrusto Team</cp:lastModifiedBy>
  <cp:revision>1</cp:revision>
  <dcterms:created xsi:type="dcterms:W3CDTF">2026-04-06T10:40:14Z</dcterms:created>
  <dcterms:modified xsi:type="dcterms:W3CDTF">2026-04-06T10:40:14Z</dcterms:modified>
</cp:coreProperties>
</file>