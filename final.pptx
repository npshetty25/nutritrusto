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0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22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226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7T19:03:48.704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64 595 24575,'0'0'-4,"0"0"-1,1 0 0,-1 1 0,0-1 1,0 0-1,0 0 0,1 0 0,-1 0 1,0 0-1,0 1 0,0-1 1,1 0-1,-1 0 0,0 0 0,0 1 1,0-1-1,0 0 0,0 0 0,1 1 1,-1-1-1,0 0 0,0 0 1,0 1-1,0-1 0,0 0 0,0 0 1,0 1-1,0-1 0,0 0 0,0 0 1,0 1-1,0-1 0,0 0 0,0 0 1,0 1-1,0-1 0,0 0 1,-1 0-1,1 1 0,0-1 0,0 0 1,0 0-1,0 0 0,0 1 0,-1-1 1,1 0-1,0 0 0,0 0 1,0 1-1,-1-1 0,1 0 0,0 0 1,-1 0 9,0 0 0,1 0 1,-1 0-1,0 0 0,1 0 0,-1 0 1,0 0-1,1 0 0,-1 0 1,1 0-1,-1 0 0,0-1 1,1 1-1,-1 0 0,1 0 1,-1-1-1,0 1 0,1 0 0,-1-1 1,1 1-1,-1-1 0,1 1 1,-1-1-1,-4-7 0,0-1 0,1 1 0,1-1 0,-1 0 1,1 0-1,0 0 0,1-1 0,-2-17 0,2 17 1,-4-20 3,2-1 1,1 1-1,1-1 0,3-41 0,0 61-7,1 0-1,-1 0 1,2 0 0,0 0-1,0 1 1,1-1-1,0 1 1,0 0-1,1 0 1,1 0-1,0 1 1,0 0 0,1 0-1,0 0 1,11-10-1,0 4-1,0 2 0,1-1 0,0 2 0,1 1 0,1 0 0,0 2 0,0 0 0,0 2 0,1 0 0,0 1 0,1 1 0,-1 1 0,1 1 0,0 2 0,39 1 0,-52-1 0,0 2 0,0-1 0,0 2 0,0-1 0,0 1 0,13 5 0,-20-6 0,0 1 0,0-1 0,0 1 0,0 0 0,0 0 0,0 0 0,0 1 0,-1-1 0,1 1 0,-1-1 0,0 1 0,1 0 0,-1 0 0,-1 0 0,1 0 0,0 0 0,-1 1 0,1-1 0,-1 0 0,0 1 0,1 5 0,3 24 0,-2 1 0,-1-1 0,-5 60 0,1-22 0,1 674 0,-6-682 0,5-55 0,0-1 0,1 1 0,0-1 0,0 1 0,1 0 0,0-1 0,0 1 0,1 0 0,0-1 0,0 1 0,1-1 0,0 1 0,0-1 0,6 13 0,10 7 0,0-2 0,2 0 0,0-2 0,2 0 0,0-1 0,34 24 0,49 20 0,-57-33 265,-35-25-536,-1 0-1,0 1 0,0 1 0,-1-1 1,13 15-1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7T19:03:49.206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1 0 24575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9702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customXml" Target="../ink/ink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627632" y="438912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NutriTrust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645920" y="102412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Smart Pantry Companion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11480" y="1481328"/>
            <a:ext cx="8321040" cy="228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11480" y="160020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Impact of Real-Time Nutritional Transparency and Smart Pantry Management</a:t>
            </a:r>
            <a:endParaRPr lang="en-US" sz="1150" dirty="0"/>
          </a:p>
          <a:p>
            <a:pPr marL="0" indent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Food Waste Reduction and Health Awareness Among Urban Consumers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11480" y="2423160"/>
            <a:ext cx="5074920" cy="2331720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5669280" y="2423160"/>
            <a:ext cx="3063240" cy="2331720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48640" y="2587752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66928" y="278892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Nirav P Shetty - 230905213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6928" y="317296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Prisha ___________ - ___________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66928" y="3557016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Sumit ___________ - ___________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66928" y="3941064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Abhyudith ___________ - ___________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806440" y="2587752"/>
            <a:ext cx="2788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806440" y="281635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Branch: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629400" y="281635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806440" y="320040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629400" y="320040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Guide's Name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806440" y="358444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Year: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629400" y="358444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H&amp;M 2026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06440" y="3968496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Phase: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629400" y="396849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Empathize &amp; Define</a:t>
            </a:r>
            <a:endParaRPr lang="en-US" sz="950" dirty="0"/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68A7AD79-63B3-3AA1-509D-4F8F665AB7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89779" y="23131"/>
            <a:ext cx="2190071" cy="175205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347472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11480" y="1024128"/>
            <a:ext cx="40690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11480" y="1024128"/>
            <a:ext cx="475488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1243584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152144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444752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context and concept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1480" y="2029968"/>
            <a:ext cx="40690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11480" y="2029968"/>
            <a:ext cx="475488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11480" y="2249424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2157984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2450592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and Why Us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" y="3035808"/>
            <a:ext cx="40690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11480" y="3035808"/>
            <a:ext cx="475488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11480" y="3255264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3163824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Research &amp; ICP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3456432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profile and methods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1480" y="4041648"/>
            <a:ext cx="40690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11480" y="4041648"/>
            <a:ext cx="475488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11480" y="4261104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4169664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Empathy Artifacts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05840" y="4462272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Empathy map synthesis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63440" y="1024128"/>
            <a:ext cx="40690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663440" y="1024128"/>
            <a:ext cx="475488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663440" y="1243584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257800" y="1152144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Discovery Methods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257800" y="1444752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to definition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63440" y="2029968"/>
            <a:ext cx="40690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663440" y="2029968"/>
            <a:ext cx="475488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663440" y="2249424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257800" y="2157984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Findings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257800" y="2450592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79-respondent evidence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63440" y="3035808"/>
            <a:ext cx="40690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4663440" y="3035808"/>
            <a:ext cx="475488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663440" y="3255264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257800" y="3163824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Problem Definition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257800" y="3456432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 and validated sub-problems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4041648"/>
            <a:ext cx="40690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4663440" y="4041648"/>
            <a:ext cx="475488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4663440" y="4261104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257800" y="4169664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&amp; Hypotheses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257800" y="4462272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direction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347472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8321040" cy="1325880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66928" y="1115568"/>
            <a:ext cx="80010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NutriTrust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mobile-first web application addressing two interconnected problems faced by urban consumers across India: inability to evaluate nutritional quality of packaged food at point of purchase, and lack of a system to manage perishable grocery inventory. By combining real-time barcode-based health ratings with an AI-powered smart pantry tracker, </a:t>
            </a:r>
            <a:r>
              <a:rPr lang="en-US" sz="11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NutriTrust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enables informed food choices while reducing household food waste.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2423160"/>
            <a:ext cx="1920240" cy="960120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84632" y="2560320"/>
            <a:ext cx="1773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Space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84632" y="2816352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+ Waste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423160" y="2423160"/>
            <a:ext cx="1920240" cy="960120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496312" y="2560320"/>
            <a:ext cx="1773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496312" y="2816352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Urban Consumers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434840" y="2423160"/>
            <a:ext cx="1920240" cy="960120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507992" y="2560320"/>
            <a:ext cx="1773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Size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507992" y="2816352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 Respondents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46520" y="2423160"/>
            <a:ext cx="1920240" cy="960120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519672" y="2560320"/>
            <a:ext cx="1773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519672" y="2816352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Empathize &amp; Define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11480" y="3520440"/>
            <a:ext cx="4069080" cy="1005840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663440" y="3520440"/>
            <a:ext cx="4069080" cy="1005840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66928" y="368503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 Health Scanner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66928" y="39319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barcode -&gt; instant NutriTrust score, ingredient risk flags, diet conflict alerts, globally banned ingredient checks.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28032" y="368503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Pantry Manager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28032" y="39319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groceries, monitor expiry countdowns, upload receipts, and get AI recipes before items spoil.</a:t>
            </a:r>
            <a:endParaRPr lang="en-US" sz="950" dirty="0"/>
          </a:p>
        </p:txBody>
      </p:sp>
      <p:sp>
        <p:nvSpPr>
          <p:cNvPr id="25" name="Text 5">
            <a:extLst>
              <a:ext uri="{FF2B5EF4-FFF2-40B4-BE49-F238E27FC236}">
                <a16:creationId xmlns:a16="http://schemas.microsoft.com/office/drawing/2014/main" id="{158BEA71-1D25-9C40-6D85-75154FE50C72}"/>
              </a:ext>
            </a:extLst>
          </p:cNvPr>
          <p:cNvSpPr/>
          <p:nvPr/>
        </p:nvSpPr>
        <p:spPr>
          <a:xfrm>
            <a:off x="1371600" y="3546566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54EA3B73-B04E-BA2D-0F4E-EB140FC81B48}"/>
              </a:ext>
            </a:extLst>
          </p:cNvPr>
          <p:cNvSpPr/>
          <p:nvPr/>
        </p:nvSpPr>
        <p:spPr>
          <a:xfrm>
            <a:off x="5863917" y="349300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🧺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0">
            <a:extLst>
              <a:ext uri="{FF2B5EF4-FFF2-40B4-BE49-F238E27FC236}">
                <a16:creationId xmlns:a16="http://schemas.microsoft.com/office/drawing/2014/main" id="{E10A5221-F69C-3B9C-7932-3628EF549324}"/>
              </a:ext>
            </a:extLst>
          </p:cNvPr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1">
            <a:extLst>
              <a:ext uri="{FF2B5EF4-FFF2-40B4-BE49-F238E27FC236}">
                <a16:creationId xmlns:a16="http://schemas.microsoft.com/office/drawing/2014/main" id="{ABEC02F1-BC6F-9008-1A18-4E4D987BE195}"/>
              </a:ext>
            </a:extLst>
          </p:cNvPr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800" dirty="0"/>
          </a:p>
        </p:txBody>
      </p:sp>
      <p:sp>
        <p:nvSpPr>
          <p:cNvPr id="37" name="Text 2">
            <a:extLst>
              <a:ext uri="{FF2B5EF4-FFF2-40B4-BE49-F238E27FC236}">
                <a16:creationId xmlns:a16="http://schemas.microsoft.com/office/drawing/2014/main" id="{32C6C53F-7598-6F5C-BEDB-9442ED4B95C6}"/>
              </a:ext>
            </a:extLst>
          </p:cNvPr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for the Study</a:t>
            </a:r>
            <a:endParaRPr lang="en-US" sz="2600" dirty="0"/>
          </a:p>
        </p:txBody>
      </p:sp>
      <p:sp>
        <p:nvSpPr>
          <p:cNvPr id="38" name="Shape 3">
            <a:extLst>
              <a:ext uri="{FF2B5EF4-FFF2-40B4-BE49-F238E27FC236}">
                <a16:creationId xmlns:a16="http://schemas.microsoft.com/office/drawing/2014/main" id="{F1F8A4BE-2475-D6AB-1028-292C66B62724}"/>
              </a:ext>
            </a:extLst>
          </p:cNvPr>
          <p:cNvSpPr/>
          <p:nvPr/>
        </p:nvSpPr>
        <p:spPr>
          <a:xfrm>
            <a:off x="457200" y="1058091"/>
            <a:ext cx="4114800" cy="1572768"/>
          </a:xfrm>
          <a:prstGeom prst="rect">
            <a:avLst/>
          </a:prstGeom>
          <a:solidFill>
            <a:srgbClr val="112233"/>
          </a:solidFill>
          <a:ln w="63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Text 4">
            <a:extLst>
              <a:ext uri="{FF2B5EF4-FFF2-40B4-BE49-F238E27FC236}">
                <a16:creationId xmlns:a16="http://schemas.microsoft.com/office/drawing/2014/main" id="{01EB0880-1574-383B-810D-FC6537EFC377}"/>
              </a:ext>
            </a:extLst>
          </p:cNvPr>
          <p:cNvSpPr/>
          <p:nvPr/>
        </p:nvSpPr>
        <p:spPr>
          <a:xfrm>
            <a:off x="411480" y="1243584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🏠</a:t>
            </a:r>
            <a:endParaRPr lang="en-US" sz="2200" dirty="0"/>
          </a:p>
        </p:txBody>
      </p:sp>
      <p:sp>
        <p:nvSpPr>
          <p:cNvPr id="40" name="Text 5">
            <a:extLst>
              <a:ext uri="{FF2B5EF4-FFF2-40B4-BE49-F238E27FC236}">
                <a16:creationId xmlns:a16="http://schemas.microsoft.com/office/drawing/2014/main" id="{E5B03F3E-CDC5-380A-B408-1846A84DEADE}"/>
              </a:ext>
            </a:extLst>
          </p:cNvPr>
          <p:cNvSpPr/>
          <p:nvPr/>
        </p:nvSpPr>
        <p:spPr>
          <a:xfrm>
            <a:off x="1261872" y="1342209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the problem</a:t>
            </a:r>
          </a:p>
          <a:p>
            <a:pPr marL="0" indent="0">
              <a:buNone/>
            </a:pPr>
            <a:endParaRPr lang="en-US" sz="1300" dirty="0"/>
          </a:p>
        </p:txBody>
      </p:sp>
      <p:sp>
        <p:nvSpPr>
          <p:cNvPr id="41" name="Text 6">
            <a:extLst>
              <a:ext uri="{FF2B5EF4-FFF2-40B4-BE49-F238E27FC236}">
                <a16:creationId xmlns:a16="http://schemas.microsoft.com/office/drawing/2014/main" id="{E501AA89-EC75-D44C-6703-6157E5B39553}"/>
              </a:ext>
            </a:extLst>
          </p:cNvPr>
          <p:cNvSpPr/>
          <p:nvPr/>
        </p:nvSpPr>
        <p:spPr>
          <a:xfrm>
            <a:off x="1216152" y="1627632"/>
            <a:ext cx="31272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urban consumers ourselves, we experienced buying packaged food with limited knowledge, forgetting perishables, and struggling to decode additive names.</a:t>
            </a:r>
            <a:endParaRPr lang="en-US" sz="1000" dirty="0"/>
          </a:p>
        </p:txBody>
      </p:sp>
      <p:sp>
        <p:nvSpPr>
          <p:cNvPr id="42" name="Shape 7">
            <a:extLst>
              <a:ext uri="{FF2B5EF4-FFF2-40B4-BE49-F238E27FC236}">
                <a16:creationId xmlns:a16="http://schemas.microsoft.com/office/drawing/2014/main" id="{17D9A523-64F8-E11B-5D5C-039277C95CBD}"/>
              </a:ext>
            </a:extLst>
          </p:cNvPr>
          <p:cNvSpPr/>
          <p:nvPr/>
        </p:nvSpPr>
        <p:spPr>
          <a:xfrm>
            <a:off x="4846320" y="1078992"/>
            <a:ext cx="4114800" cy="1572768"/>
          </a:xfrm>
          <a:prstGeom prst="rect">
            <a:avLst/>
          </a:prstGeom>
          <a:solidFill>
            <a:srgbClr val="112233"/>
          </a:solidFill>
          <a:ln w="63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3" name="Text 8">
            <a:extLst>
              <a:ext uri="{FF2B5EF4-FFF2-40B4-BE49-F238E27FC236}">
                <a16:creationId xmlns:a16="http://schemas.microsoft.com/office/drawing/2014/main" id="{DFA4529C-9F1C-3BB5-F5FB-6B420A65DE81}"/>
              </a:ext>
            </a:extLst>
          </p:cNvPr>
          <p:cNvSpPr/>
          <p:nvPr/>
        </p:nvSpPr>
        <p:spPr>
          <a:xfrm>
            <a:off x="4846320" y="1243584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44" name="Text 9">
            <a:extLst>
              <a:ext uri="{FF2B5EF4-FFF2-40B4-BE49-F238E27FC236}">
                <a16:creationId xmlns:a16="http://schemas.microsoft.com/office/drawing/2014/main" id="{312693D0-2F82-10B4-A511-85F9C91B1381}"/>
              </a:ext>
            </a:extLst>
          </p:cNvPr>
          <p:cNvSpPr/>
          <p:nvPr/>
        </p:nvSpPr>
        <p:spPr>
          <a:xfrm>
            <a:off x="5650992" y="1243584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Opaque Food Packaging</a:t>
            </a:r>
            <a:endParaRPr lang="en-US" sz="1300" dirty="0"/>
          </a:p>
        </p:txBody>
      </p:sp>
      <p:sp>
        <p:nvSpPr>
          <p:cNvPr id="45" name="Text 10">
            <a:extLst>
              <a:ext uri="{FF2B5EF4-FFF2-40B4-BE49-F238E27FC236}">
                <a16:creationId xmlns:a16="http://schemas.microsoft.com/office/drawing/2014/main" id="{0B1F3884-CCCC-1EB6-4978-EE6B5A7373F1}"/>
              </a:ext>
            </a:extLst>
          </p:cNvPr>
          <p:cNvSpPr/>
          <p:nvPr/>
        </p:nvSpPr>
        <p:spPr>
          <a:xfrm>
            <a:off x="5650992" y="1627632"/>
            <a:ext cx="31272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packaged food labels are complex — students cannot interpret E-numbers, additives, or Nutri-Scores.</a:t>
            </a:r>
            <a:endParaRPr lang="en-US" sz="1000" dirty="0"/>
          </a:p>
        </p:txBody>
      </p:sp>
      <p:sp>
        <p:nvSpPr>
          <p:cNvPr id="46" name="Shape 11">
            <a:extLst>
              <a:ext uri="{FF2B5EF4-FFF2-40B4-BE49-F238E27FC236}">
                <a16:creationId xmlns:a16="http://schemas.microsoft.com/office/drawing/2014/main" id="{EB1C33CA-C905-9CAD-2CB7-8A2AFDE82AFC}"/>
              </a:ext>
            </a:extLst>
          </p:cNvPr>
          <p:cNvSpPr/>
          <p:nvPr/>
        </p:nvSpPr>
        <p:spPr>
          <a:xfrm>
            <a:off x="411480" y="2862072"/>
            <a:ext cx="4114800" cy="1572768"/>
          </a:xfrm>
          <a:prstGeom prst="rect">
            <a:avLst/>
          </a:prstGeom>
          <a:solidFill>
            <a:srgbClr val="112233"/>
          </a:solidFill>
          <a:ln w="63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7" name="Text 12">
            <a:extLst>
              <a:ext uri="{FF2B5EF4-FFF2-40B4-BE49-F238E27FC236}">
                <a16:creationId xmlns:a16="http://schemas.microsoft.com/office/drawing/2014/main" id="{12E77E30-146E-D3E7-FC22-70CA0672B871}"/>
              </a:ext>
            </a:extLst>
          </p:cNvPr>
          <p:cNvSpPr/>
          <p:nvPr/>
        </p:nvSpPr>
        <p:spPr>
          <a:xfrm>
            <a:off x="411480" y="3026664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🗑️</a:t>
            </a:r>
            <a:endParaRPr lang="en-US" sz="2200" dirty="0"/>
          </a:p>
        </p:txBody>
      </p:sp>
      <p:sp>
        <p:nvSpPr>
          <p:cNvPr id="48" name="Text 13">
            <a:extLst>
              <a:ext uri="{FF2B5EF4-FFF2-40B4-BE49-F238E27FC236}">
                <a16:creationId xmlns:a16="http://schemas.microsoft.com/office/drawing/2014/main" id="{462271C4-9AA7-408E-BF5B-65BADF33EFA3}"/>
              </a:ext>
            </a:extLst>
          </p:cNvPr>
          <p:cNvSpPr/>
          <p:nvPr/>
        </p:nvSpPr>
        <p:spPr>
          <a:xfrm>
            <a:off x="1216152" y="3026664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Alarming Food Waste</a:t>
            </a:r>
            <a:endParaRPr lang="en-US" sz="1300" dirty="0"/>
          </a:p>
        </p:txBody>
      </p:sp>
      <p:sp>
        <p:nvSpPr>
          <p:cNvPr id="49" name="Text 14">
            <a:extLst>
              <a:ext uri="{FF2B5EF4-FFF2-40B4-BE49-F238E27FC236}">
                <a16:creationId xmlns:a16="http://schemas.microsoft.com/office/drawing/2014/main" id="{E0E8059A-9CA4-A9BA-1CB9-59FEF4F0BE30}"/>
              </a:ext>
            </a:extLst>
          </p:cNvPr>
          <p:cNvSpPr/>
          <p:nvPr/>
        </p:nvSpPr>
        <p:spPr>
          <a:xfrm>
            <a:off x="1216152" y="3410712"/>
            <a:ext cx="31272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FSSAI estimates Indian households waste ~50kg of food per person annually. Students are a significant contributor.</a:t>
            </a:r>
            <a:endParaRPr lang="en-US" sz="1000" dirty="0"/>
          </a:p>
        </p:txBody>
      </p:sp>
      <p:sp>
        <p:nvSpPr>
          <p:cNvPr id="50" name="Shape 15">
            <a:extLst>
              <a:ext uri="{FF2B5EF4-FFF2-40B4-BE49-F238E27FC236}">
                <a16:creationId xmlns:a16="http://schemas.microsoft.com/office/drawing/2014/main" id="{3B2B3B77-C136-649D-8B0F-EC9FDB4FE3D5}"/>
              </a:ext>
            </a:extLst>
          </p:cNvPr>
          <p:cNvSpPr/>
          <p:nvPr/>
        </p:nvSpPr>
        <p:spPr>
          <a:xfrm>
            <a:off x="4846320" y="2862072"/>
            <a:ext cx="4114800" cy="1572768"/>
          </a:xfrm>
          <a:prstGeom prst="rect">
            <a:avLst/>
          </a:prstGeom>
          <a:solidFill>
            <a:srgbClr val="112233"/>
          </a:solidFill>
          <a:ln w="63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1" name="Text 16">
            <a:extLst>
              <a:ext uri="{FF2B5EF4-FFF2-40B4-BE49-F238E27FC236}">
                <a16:creationId xmlns:a16="http://schemas.microsoft.com/office/drawing/2014/main" id="{A21DD8F2-9D6E-6DC1-EF26-76E255FE06FC}"/>
              </a:ext>
            </a:extLst>
          </p:cNvPr>
          <p:cNvSpPr/>
          <p:nvPr/>
        </p:nvSpPr>
        <p:spPr>
          <a:xfrm>
            <a:off x="4846320" y="3026664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52" name="Text 17">
            <a:extLst>
              <a:ext uri="{FF2B5EF4-FFF2-40B4-BE49-F238E27FC236}">
                <a16:creationId xmlns:a16="http://schemas.microsoft.com/office/drawing/2014/main" id="{00802DC2-74AA-1459-2F6A-6FD47626C267}"/>
              </a:ext>
            </a:extLst>
          </p:cNvPr>
          <p:cNvSpPr/>
          <p:nvPr/>
        </p:nvSpPr>
        <p:spPr>
          <a:xfrm>
            <a:off x="5650992" y="3026664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in Mobile Solutions</a:t>
            </a:r>
            <a:endParaRPr lang="en-US" sz="1300" dirty="0"/>
          </a:p>
        </p:txBody>
      </p:sp>
      <p:sp>
        <p:nvSpPr>
          <p:cNvPr id="53" name="Text 18">
            <a:extLst>
              <a:ext uri="{FF2B5EF4-FFF2-40B4-BE49-F238E27FC236}">
                <a16:creationId xmlns:a16="http://schemas.microsoft.com/office/drawing/2014/main" id="{5197FFB8-D59A-2023-46E9-A1A6B0B72F85}"/>
              </a:ext>
            </a:extLst>
          </p:cNvPr>
          <p:cNvSpPr/>
          <p:nvPr/>
        </p:nvSpPr>
        <p:spPr>
          <a:xfrm>
            <a:off x="5650992" y="3410712"/>
            <a:ext cx="31272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existing Indian app combines barcode nutrition scanning with smart pantry expiry management in one tool.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EMPATHIZE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347472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Research &amp; Ideal Customer Profile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4069080" cy="3749040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406908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1051560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CUSTOMER PROFILE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" y="1572768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36192" y="157276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consumer 18-60 in Tier 1 and Tier 2 Indian cities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0352" y="2020824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536192" y="2020824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over India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0352" y="246888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536192" y="246888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Buys packaged food regularly, uses delivery apps, no pantry system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0352" y="291693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536192" y="2916936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Students, professionals, homemakers, self-employed, retired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0352" y="336499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536192" y="3364992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decode E-numbers/additives; avg label understanding 2.9/5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0352" y="3813048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536192" y="381304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Groceries expire before use; 73% waste food regularly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0352" y="4261104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536192" y="4261104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informed choices and reduce waste with minimal effort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63440" y="960120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Methods Used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63440" y="1234440"/>
            <a:ext cx="4069080" cy="868680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24" name="Text 22"/>
          <p:cNvSpPr/>
          <p:nvPr/>
        </p:nvSpPr>
        <p:spPr>
          <a:xfrm>
            <a:off x="4800600" y="134416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Empathy Interviews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790688" y="1325880"/>
            <a:ext cx="804672" cy="201168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26" name="Text 24"/>
          <p:cNvSpPr/>
          <p:nvPr/>
        </p:nvSpPr>
        <p:spPr>
          <a:xfrm>
            <a:off x="7790688" y="1371600"/>
            <a:ext cx="8046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00600" y="162763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 conversations with 8 urban consumers across occupations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663440" y="2148840"/>
            <a:ext cx="4069080" cy="868680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29" name="Text 27"/>
          <p:cNvSpPr/>
          <p:nvPr/>
        </p:nvSpPr>
        <p:spPr>
          <a:xfrm>
            <a:off x="4800600" y="225856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Observational Study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790688" y="2240280"/>
            <a:ext cx="804672" cy="201168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31" name="Text 29"/>
          <p:cNvSpPr/>
          <p:nvPr/>
        </p:nvSpPr>
        <p:spPr>
          <a:xfrm>
            <a:off x="7790688" y="2286000"/>
            <a:ext cx="8046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00600" y="254203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grocery behavior and label-reading patterns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663440" y="3063240"/>
            <a:ext cx="4069080" cy="868680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34" name="Text 32"/>
          <p:cNvSpPr/>
          <p:nvPr/>
        </p:nvSpPr>
        <p:spPr>
          <a:xfrm>
            <a:off x="4800600" y="317296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Survey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790688" y="3154680"/>
            <a:ext cx="804672" cy="201168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36" name="Text 34"/>
          <p:cNvSpPr/>
          <p:nvPr/>
        </p:nvSpPr>
        <p:spPr>
          <a:xfrm>
            <a:off x="7790688" y="3200400"/>
            <a:ext cx="8046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00600" y="345643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30-question form; 79 respondents across 6 occupation groups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663440" y="3977640"/>
            <a:ext cx="4069080" cy="868680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39" name="Text 37"/>
          <p:cNvSpPr/>
          <p:nvPr/>
        </p:nvSpPr>
        <p:spPr>
          <a:xfrm>
            <a:off x="4800600" y="408736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Analysis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790688" y="4069080"/>
            <a:ext cx="804672" cy="201168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41" name="Text 39"/>
          <p:cNvSpPr/>
          <p:nvPr/>
        </p:nvSpPr>
        <p:spPr>
          <a:xfrm>
            <a:off x="7790688" y="4114800"/>
            <a:ext cx="8046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800600" y="437083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FactsScan, TruthIn, Yuka, KitchenPal gap mapping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EMPATHIZE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347472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ICP Validation - Survey First-Cut Results (n=79)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1920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21208" y="10972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21208" y="139903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 packaged food weekly or daily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23160" y="960120"/>
            <a:ext cx="1920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532888" y="10972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532888" y="139903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NO structured pantry tracking system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434840" y="960120"/>
            <a:ext cx="1920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544568" y="10972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44568" y="139903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4 or 5 likelihood to use </a:t>
            </a:r>
            <a:r>
              <a:rPr lang="en-US" sz="9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NutriTrust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446520" y="960120"/>
            <a:ext cx="1920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556248" y="10972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556248" y="139903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labels confusing (Q9)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1480" y="1920240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8 Features Wanted by Respondents (Q29)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411480" y="2212848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highlight>
                  <a:srgbClr val="0000FF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Ingredient Scanner/Explainer</a:t>
            </a:r>
            <a:endParaRPr lang="en-US" sz="1200" dirty="0">
              <a:solidFill>
                <a:schemeClr val="bg1"/>
              </a:solidFill>
              <a:highlight>
                <a:srgbClr val="0000FF"/>
              </a:highlight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474720" y="2203704"/>
            <a:ext cx="502920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20" name="Shape 18"/>
          <p:cNvSpPr/>
          <p:nvPr/>
        </p:nvSpPr>
        <p:spPr>
          <a:xfrm>
            <a:off x="3474720" y="2203704"/>
            <a:ext cx="4078224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21" name="Text 19"/>
          <p:cNvSpPr/>
          <p:nvPr/>
        </p:nvSpPr>
        <p:spPr>
          <a:xfrm>
            <a:off x="8601074" y="2305087"/>
            <a:ext cx="45529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81%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1480" y="2514600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Health Summary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474720" y="2505456"/>
            <a:ext cx="502920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24" name="Shape 22"/>
          <p:cNvSpPr/>
          <p:nvPr/>
        </p:nvSpPr>
        <p:spPr>
          <a:xfrm>
            <a:off x="3474720" y="2505456"/>
            <a:ext cx="3072384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25" name="Text 23"/>
          <p:cNvSpPr/>
          <p:nvPr/>
        </p:nvSpPr>
        <p:spPr>
          <a:xfrm>
            <a:off x="8601074" y="2545842"/>
            <a:ext cx="45529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61%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11480" y="2816352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Risk Alerts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7" name="Shape 25"/>
          <p:cNvSpPr/>
          <p:nvPr/>
        </p:nvSpPr>
        <p:spPr>
          <a:xfrm>
            <a:off x="3474720" y="2807208"/>
            <a:ext cx="502920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28" name="Shape 26"/>
          <p:cNvSpPr/>
          <p:nvPr/>
        </p:nvSpPr>
        <p:spPr>
          <a:xfrm>
            <a:off x="3474720" y="2807208"/>
            <a:ext cx="2715768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29" name="Text 27"/>
          <p:cNvSpPr/>
          <p:nvPr/>
        </p:nvSpPr>
        <p:spPr>
          <a:xfrm>
            <a:off x="8549639" y="2816352"/>
            <a:ext cx="45529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54%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11480" y="3118104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 Date Reminders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1" name="Shape 29"/>
          <p:cNvSpPr/>
          <p:nvPr/>
        </p:nvSpPr>
        <p:spPr>
          <a:xfrm>
            <a:off x="3474720" y="3108960"/>
            <a:ext cx="502920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32" name="Shape 30"/>
          <p:cNvSpPr/>
          <p:nvPr/>
        </p:nvSpPr>
        <p:spPr>
          <a:xfrm>
            <a:off x="3474720" y="3108960"/>
            <a:ext cx="2715768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33" name="Text 31"/>
          <p:cNvSpPr/>
          <p:nvPr/>
        </p:nvSpPr>
        <p:spPr>
          <a:xfrm>
            <a:off x="8549639" y="3118104"/>
            <a:ext cx="45529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54%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11480" y="3419856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Banned Ingredient Alerts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5" name="Shape 33"/>
          <p:cNvSpPr/>
          <p:nvPr/>
        </p:nvSpPr>
        <p:spPr>
          <a:xfrm>
            <a:off x="3474720" y="3410712"/>
            <a:ext cx="502920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36" name="Shape 34"/>
          <p:cNvSpPr/>
          <p:nvPr/>
        </p:nvSpPr>
        <p:spPr>
          <a:xfrm>
            <a:off x="3474720" y="3410712"/>
            <a:ext cx="2414016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37" name="Text 35"/>
          <p:cNvSpPr/>
          <p:nvPr/>
        </p:nvSpPr>
        <p:spPr>
          <a:xfrm>
            <a:off x="8549639" y="3419856"/>
            <a:ext cx="45529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48%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11480" y="3721608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highlight>
                  <a:srgbClr val="0000FF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Digital Pantry Tracker</a:t>
            </a:r>
            <a:endParaRPr lang="en-US" sz="1200" dirty="0">
              <a:solidFill>
                <a:schemeClr val="bg1"/>
              </a:solidFill>
              <a:highlight>
                <a:srgbClr val="0000FF"/>
              </a:highlight>
            </a:endParaRPr>
          </a:p>
        </p:txBody>
      </p:sp>
      <p:sp>
        <p:nvSpPr>
          <p:cNvPr id="39" name="Shape 37"/>
          <p:cNvSpPr/>
          <p:nvPr/>
        </p:nvSpPr>
        <p:spPr>
          <a:xfrm>
            <a:off x="3474720" y="3712464"/>
            <a:ext cx="502920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40" name="Shape 38"/>
          <p:cNvSpPr/>
          <p:nvPr/>
        </p:nvSpPr>
        <p:spPr>
          <a:xfrm>
            <a:off x="3474720" y="3712464"/>
            <a:ext cx="2112264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41" name="Text 39"/>
          <p:cNvSpPr/>
          <p:nvPr/>
        </p:nvSpPr>
        <p:spPr>
          <a:xfrm>
            <a:off x="8549639" y="3721608"/>
            <a:ext cx="45529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11480" y="4023360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Recipe Suggestions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43" name="Shape 41"/>
          <p:cNvSpPr/>
          <p:nvPr/>
        </p:nvSpPr>
        <p:spPr>
          <a:xfrm>
            <a:off x="3474720" y="4014216"/>
            <a:ext cx="502920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44" name="Shape 42"/>
          <p:cNvSpPr/>
          <p:nvPr/>
        </p:nvSpPr>
        <p:spPr>
          <a:xfrm>
            <a:off x="3474720" y="4014216"/>
            <a:ext cx="2066544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45" name="Text 43"/>
          <p:cNvSpPr/>
          <p:nvPr/>
        </p:nvSpPr>
        <p:spPr>
          <a:xfrm>
            <a:off x="8549639" y="4023360"/>
            <a:ext cx="45529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11480" y="4302252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Dietary Filters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47" name="Shape 45"/>
          <p:cNvSpPr/>
          <p:nvPr/>
        </p:nvSpPr>
        <p:spPr>
          <a:xfrm>
            <a:off x="3474720" y="4315968"/>
            <a:ext cx="502920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48" name="Shape 46"/>
          <p:cNvSpPr/>
          <p:nvPr/>
        </p:nvSpPr>
        <p:spPr>
          <a:xfrm>
            <a:off x="3474720" y="4315968"/>
            <a:ext cx="1911096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49" name="Text 47"/>
          <p:cNvSpPr/>
          <p:nvPr/>
        </p:nvSpPr>
        <p:spPr>
          <a:xfrm>
            <a:off x="8549639" y="4325112"/>
            <a:ext cx="45529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411480" y="4700016"/>
            <a:ext cx="83210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51" name="Shape 49"/>
          <p:cNvSpPr/>
          <p:nvPr/>
        </p:nvSpPr>
        <p:spPr>
          <a:xfrm>
            <a:off x="384048" y="4695444"/>
            <a:ext cx="54864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52" name="Text 50"/>
          <p:cNvSpPr/>
          <p:nvPr/>
        </p:nvSpPr>
        <p:spPr>
          <a:xfrm>
            <a:off x="1058176" y="4789858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validates demand across all demographics - 71% expressed high intent to use </a:t>
            </a:r>
            <a:r>
              <a:rPr lang="en-US" sz="1200" b="1" dirty="0" err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NutriTrust</a:t>
            </a: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EMPATHIZE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347472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Empathy Artifacts - Empathy Map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411480" y="932688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Empathy Map - Urban Consumer (Packaged Food User)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411480" y="1234440"/>
            <a:ext cx="4069080" cy="1719072"/>
          </a:xfrm>
          <a:prstGeom prst="rect">
            <a:avLst/>
          </a:prstGeom>
          <a:solidFill>
            <a:srgbClr val="E1F5EE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>
              <a:solidFill>
                <a:schemeClr val="bg1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411480" y="1234440"/>
            <a:ext cx="406908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521208" y="1325880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THINKS &amp; FEELS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521208" y="1618488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eat healthier but labels are too complex</a:t>
            </a:r>
            <a:endParaRPr lang="en-US" sz="1000" dirty="0">
              <a:solidFill>
                <a:schemeClr val="bg2">
                  <a:lumMod val="10000"/>
                </a:schemeClr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Feels guilty wasting food but forgets purchases</a:t>
            </a:r>
            <a:endParaRPr lang="en-US" sz="1000" dirty="0">
              <a:solidFill>
                <a:schemeClr val="bg2">
                  <a:lumMod val="10000"/>
                </a:schemeClr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Unsure whether common snacks are harmful</a:t>
            </a:r>
            <a:endParaRPr lang="en-US" sz="10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4663440" y="1234440"/>
            <a:ext cx="4069080" cy="1719072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>
              <a:solidFill>
                <a:schemeClr val="bg1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4663440" y="1234440"/>
            <a:ext cx="406908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>
              <a:solidFill>
                <a:schemeClr val="bg1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4773168" y="1325880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HEARS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11480" y="3063240"/>
            <a:ext cx="4069080" cy="1719072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>
              <a:solidFill>
                <a:schemeClr val="bg1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11480" y="3063240"/>
            <a:ext cx="4069080" cy="2926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>
              <a:solidFill>
                <a:schemeClr val="bg1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521208" y="3154680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SAYS &amp; DOES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521208" y="3447288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Buys familiar brands without checking labels</a:t>
            </a:r>
            <a:endParaRPr lang="en-US" sz="1000" dirty="0">
              <a:solidFill>
                <a:schemeClr val="bg1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Forgets perishables until late-stage spoilage</a:t>
            </a:r>
            <a:endParaRPr lang="en-US" sz="1000" dirty="0">
              <a:solidFill>
                <a:schemeClr val="bg1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delivery when pantry appears empty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663440" y="3063240"/>
            <a:ext cx="4069080" cy="1719072"/>
          </a:xfrm>
          <a:prstGeom prst="rect">
            <a:avLst/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>
              <a:solidFill>
                <a:schemeClr val="bg1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663440" y="3063240"/>
            <a:ext cx="4069080" cy="2926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>
              <a:solidFill>
                <a:schemeClr val="bg1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4773168" y="3154680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22A68E2F-5FA0-1A58-AC06-E6F05D6AAB45}"/>
              </a:ext>
            </a:extLst>
          </p:cNvPr>
          <p:cNvSpPr/>
          <p:nvPr/>
        </p:nvSpPr>
        <p:spPr>
          <a:xfrm>
            <a:off x="5074920" y="1618488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ingredient is banned abroad</a:t>
            </a:r>
            <a:endParaRPr lang="en-US" sz="1000" dirty="0">
              <a:solidFill>
                <a:schemeClr val="bg2">
                  <a:lumMod val="10000"/>
                </a:schemeClr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track food but no easy tool exists</a:t>
            </a:r>
            <a:endParaRPr lang="en-US" sz="1000" dirty="0">
              <a:solidFill>
                <a:schemeClr val="bg2">
                  <a:lumMod val="10000"/>
                </a:schemeClr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Family/roommate complaints about spoiled groceries</a:t>
            </a:r>
            <a:endParaRPr lang="en-US" sz="10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3" name="Text 15">
            <a:extLst>
              <a:ext uri="{FF2B5EF4-FFF2-40B4-BE49-F238E27FC236}">
                <a16:creationId xmlns:a16="http://schemas.microsoft.com/office/drawing/2014/main" id="{15E7FE7D-4748-0747-08F9-69C2E52B4A8F}"/>
              </a:ext>
            </a:extLst>
          </p:cNvPr>
          <p:cNvSpPr/>
          <p:nvPr/>
        </p:nvSpPr>
        <p:spPr>
          <a:xfrm>
            <a:off x="475488" y="3447288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Buys familiar brands without checking labels</a:t>
            </a:r>
            <a:endParaRPr lang="en-US" sz="1000" dirty="0">
              <a:solidFill>
                <a:schemeClr val="bg2">
                  <a:lumMod val="10000"/>
                </a:schemeClr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Forgets perishables until late-stage spoilage</a:t>
            </a:r>
            <a:endParaRPr lang="en-US" sz="1000" dirty="0">
              <a:solidFill>
                <a:schemeClr val="bg2">
                  <a:lumMod val="10000"/>
                </a:schemeClr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delivery when pantry appears empty</a:t>
            </a:r>
            <a:endParaRPr lang="en-US" sz="10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5" name="Text 19">
            <a:extLst>
              <a:ext uri="{FF2B5EF4-FFF2-40B4-BE49-F238E27FC236}">
                <a16:creationId xmlns:a16="http://schemas.microsoft.com/office/drawing/2014/main" id="{8372C83D-025F-1DCA-04FB-A754A0E9246F}"/>
              </a:ext>
            </a:extLst>
          </p:cNvPr>
          <p:cNvSpPr/>
          <p:nvPr/>
        </p:nvSpPr>
        <p:spPr>
          <a:xfrm>
            <a:off x="5074920" y="3447288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84% find labels confusing (Q9)</a:t>
            </a:r>
            <a:endParaRPr lang="en-US" sz="1000" dirty="0">
              <a:solidFill>
                <a:schemeClr val="bg2">
                  <a:lumMod val="10000"/>
                </a:schemeClr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 waste food regularly (Q23)</a:t>
            </a:r>
            <a:endParaRPr lang="en-US" sz="1000" dirty="0">
              <a:solidFill>
                <a:schemeClr val="bg2">
                  <a:lumMod val="10000"/>
                </a:schemeClr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 have no structured pantry system (Q19)</a:t>
            </a:r>
            <a:endParaRPr lang="en-US" sz="1000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347472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Discovery &amp; Definition - Methods Used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411480" y="1905000"/>
            <a:ext cx="1188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2148840"/>
            <a:ext cx="1417320" cy="1143000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84632" y="2267712"/>
            <a:ext cx="1271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Watched 8 consumers in stores; 9/10 did not read nutrition labels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2148840" y="1905000"/>
            <a:ext cx="1188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148840" y="2148840"/>
            <a:ext cx="1417320" cy="1143000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221992" y="2267712"/>
            <a:ext cx="1271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empathy interviews across occupations; all reported recent food waste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3886200" y="1905000"/>
            <a:ext cx="1188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886200" y="2148840"/>
            <a:ext cx="1417320" cy="1143000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959352" y="2267712"/>
            <a:ext cx="1271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30-Q survey, 79 respondents; Q4 confirms label-check inconsistency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5623560" y="1905000"/>
            <a:ext cx="1188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623560" y="2148840"/>
            <a:ext cx="1417320" cy="1143000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696712" y="2267712"/>
            <a:ext cx="1271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Clustered responses into two themes: health ignorance and waste habits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7360920" y="1905000"/>
            <a:ext cx="1188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360920" y="2148840"/>
            <a:ext cx="1417320" cy="1143000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7434072" y="2267712"/>
            <a:ext cx="1271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Synthesised findings into validated POV problem statement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411480" y="3429000"/>
            <a:ext cx="2606040" cy="1024128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521208" y="358444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just grab what I have had before. I have no idea what is actually in it."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21208" y="4224528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Consumer, 20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108960" y="3429000"/>
            <a:ext cx="2606040" cy="1024128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3218688" y="358444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threw away a full bag of vegetables last week. I forgot I bought them."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218688" y="4224528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Working Professional, 34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806440" y="3429000"/>
            <a:ext cx="2606040" cy="1024128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5916168" y="358444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never check expiry dates until something smells off."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916168" y="4224528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Homemaker, 42</a:t>
            </a:r>
            <a:endParaRPr lang="en-US" sz="850" dirty="0"/>
          </a:p>
        </p:txBody>
      </p:sp>
      <p:sp>
        <p:nvSpPr>
          <p:cNvPr id="43" name="Shape 4">
            <a:extLst>
              <a:ext uri="{FF2B5EF4-FFF2-40B4-BE49-F238E27FC236}">
                <a16:creationId xmlns:a16="http://schemas.microsoft.com/office/drawing/2014/main" id="{A2E511CA-04E9-DF2B-B93F-A8A2DB335389}"/>
              </a:ext>
            </a:extLst>
          </p:cNvPr>
          <p:cNvSpPr/>
          <p:nvPr/>
        </p:nvSpPr>
        <p:spPr>
          <a:xfrm>
            <a:off x="850392" y="1164336"/>
            <a:ext cx="566928" cy="5669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5">
            <a:extLst>
              <a:ext uri="{FF2B5EF4-FFF2-40B4-BE49-F238E27FC236}">
                <a16:creationId xmlns:a16="http://schemas.microsoft.com/office/drawing/2014/main" id="{A0093025-1926-19E0-997D-69068A7B637B}"/>
              </a:ext>
            </a:extLst>
          </p:cNvPr>
          <p:cNvSpPr/>
          <p:nvPr/>
        </p:nvSpPr>
        <p:spPr>
          <a:xfrm>
            <a:off x="850392" y="11643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45" name="Shape 6">
            <a:extLst>
              <a:ext uri="{FF2B5EF4-FFF2-40B4-BE49-F238E27FC236}">
                <a16:creationId xmlns:a16="http://schemas.microsoft.com/office/drawing/2014/main" id="{7F968358-7E3D-2E98-38CF-97ABF3C82104}"/>
              </a:ext>
            </a:extLst>
          </p:cNvPr>
          <p:cNvSpPr/>
          <p:nvPr/>
        </p:nvSpPr>
        <p:spPr>
          <a:xfrm>
            <a:off x="1444752" y="1420368"/>
            <a:ext cx="10972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10">
            <a:extLst>
              <a:ext uri="{FF2B5EF4-FFF2-40B4-BE49-F238E27FC236}">
                <a16:creationId xmlns:a16="http://schemas.microsoft.com/office/drawing/2014/main" id="{68DED570-6350-462D-2C80-91F45E9F2568}"/>
              </a:ext>
            </a:extLst>
          </p:cNvPr>
          <p:cNvSpPr/>
          <p:nvPr/>
        </p:nvSpPr>
        <p:spPr>
          <a:xfrm>
            <a:off x="2569464" y="1164336"/>
            <a:ext cx="566928" cy="5669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11">
            <a:extLst>
              <a:ext uri="{FF2B5EF4-FFF2-40B4-BE49-F238E27FC236}">
                <a16:creationId xmlns:a16="http://schemas.microsoft.com/office/drawing/2014/main" id="{F554A25E-5AC5-746A-1D92-F9A59195F294}"/>
              </a:ext>
            </a:extLst>
          </p:cNvPr>
          <p:cNvSpPr/>
          <p:nvPr/>
        </p:nvSpPr>
        <p:spPr>
          <a:xfrm>
            <a:off x="2569464" y="11643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48" name="Shape 12">
            <a:extLst>
              <a:ext uri="{FF2B5EF4-FFF2-40B4-BE49-F238E27FC236}">
                <a16:creationId xmlns:a16="http://schemas.microsoft.com/office/drawing/2014/main" id="{5EF72225-46AA-4A46-E851-B590F80B7821}"/>
              </a:ext>
            </a:extLst>
          </p:cNvPr>
          <p:cNvSpPr/>
          <p:nvPr/>
        </p:nvSpPr>
        <p:spPr>
          <a:xfrm>
            <a:off x="3163824" y="1420368"/>
            <a:ext cx="10972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16">
            <a:extLst>
              <a:ext uri="{FF2B5EF4-FFF2-40B4-BE49-F238E27FC236}">
                <a16:creationId xmlns:a16="http://schemas.microsoft.com/office/drawing/2014/main" id="{EEB35818-1187-A298-0123-361554E3B613}"/>
              </a:ext>
            </a:extLst>
          </p:cNvPr>
          <p:cNvSpPr/>
          <p:nvPr/>
        </p:nvSpPr>
        <p:spPr>
          <a:xfrm>
            <a:off x="4288536" y="1164336"/>
            <a:ext cx="566928" cy="5669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17">
            <a:extLst>
              <a:ext uri="{FF2B5EF4-FFF2-40B4-BE49-F238E27FC236}">
                <a16:creationId xmlns:a16="http://schemas.microsoft.com/office/drawing/2014/main" id="{C3489F64-19F4-4769-68D7-29DD299803AA}"/>
              </a:ext>
            </a:extLst>
          </p:cNvPr>
          <p:cNvSpPr/>
          <p:nvPr/>
        </p:nvSpPr>
        <p:spPr>
          <a:xfrm>
            <a:off x="4288536" y="11643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51" name="Shape 18">
            <a:extLst>
              <a:ext uri="{FF2B5EF4-FFF2-40B4-BE49-F238E27FC236}">
                <a16:creationId xmlns:a16="http://schemas.microsoft.com/office/drawing/2014/main" id="{98D7412C-5923-B27F-44D4-8B652CF0CD5A}"/>
              </a:ext>
            </a:extLst>
          </p:cNvPr>
          <p:cNvSpPr/>
          <p:nvPr/>
        </p:nvSpPr>
        <p:spPr>
          <a:xfrm>
            <a:off x="4882896" y="1420368"/>
            <a:ext cx="10972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Shape 22">
            <a:extLst>
              <a:ext uri="{FF2B5EF4-FFF2-40B4-BE49-F238E27FC236}">
                <a16:creationId xmlns:a16="http://schemas.microsoft.com/office/drawing/2014/main" id="{74FAE05E-047A-0A30-E2C3-E08A1BA42908}"/>
              </a:ext>
            </a:extLst>
          </p:cNvPr>
          <p:cNvSpPr/>
          <p:nvPr/>
        </p:nvSpPr>
        <p:spPr>
          <a:xfrm>
            <a:off x="6007608" y="1164336"/>
            <a:ext cx="566928" cy="5669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23">
            <a:extLst>
              <a:ext uri="{FF2B5EF4-FFF2-40B4-BE49-F238E27FC236}">
                <a16:creationId xmlns:a16="http://schemas.microsoft.com/office/drawing/2014/main" id="{68D173BD-5CD9-4672-827B-987683C0EF50}"/>
              </a:ext>
            </a:extLst>
          </p:cNvPr>
          <p:cNvSpPr/>
          <p:nvPr/>
        </p:nvSpPr>
        <p:spPr>
          <a:xfrm>
            <a:off x="6007608" y="11643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54" name="Shape 24">
            <a:extLst>
              <a:ext uri="{FF2B5EF4-FFF2-40B4-BE49-F238E27FC236}">
                <a16:creationId xmlns:a16="http://schemas.microsoft.com/office/drawing/2014/main" id="{EDB8E082-C61F-3697-77C9-0855F42C8DB5}"/>
              </a:ext>
            </a:extLst>
          </p:cNvPr>
          <p:cNvSpPr/>
          <p:nvPr/>
        </p:nvSpPr>
        <p:spPr>
          <a:xfrm>
            <a:off x="6601968" y="1420368"/>
            <a:ext cx="10972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Shape 28">
            <a:extLst>
              <a:ext uri="{FF2B5EF4-FFF2-40B4-BE49-F238E27FC236}">
                <a16:creationId xmlns:a16="http://schemas.microsoft.com/office/drawing/2014/main" id="{E2140C74-9663-3F03-0974-7CA026E311F1}"/>
              </a:ext>
            </a:extLst>
          </p:cNvPr>
          <p:cNvSpPr/>
          <p:nvPr/>
        </p:nvSpPr>
        <p:spPr>
          <a:xfrm>
            <a:off x="7726680" y="1164336"/>
            <a:ext cx="566928" cy="5669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29">
            <a:extLst>
              <a:ext uri="{FF2B5EF4-FFF2-40B4-BE49-F238E27FC236}">
                <a16:creationId xmlns:a16="http://schemas.microsoft.com/office/drawing/2014/main" id="{1D1B11B1-3DD4-2A6F-8034-99E6F018C30C}"/>
              </a:ext>
            </a:extLst>
          </p:cNvPr>
          <p:cNvSpPr/>
          <p:nvPr/>
        </p:nvSpPr>
        <p:spPr>
          <a:xfrm>
            <a:off x="7726680" y="11643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347472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Analysis - Ishikawa Fishbone Diagram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932688"/>
            <a:ext cx="8321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urban consumers make uninformed food choices and waste groceries?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11480" y="2606040"/>
            <a:ext cx="713232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589520" y="2240280"/>
            <a:ext cx="15087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7589520" y="2240280"/>
            <a:ext cx="1508760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699248" y="240487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Food Decisions + Grocery Waste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11480" y="1115568"/>
            <a:ext cx="1417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02920" y="1197864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Manpower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1362456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nutrition education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926080" y="1115568"/>
            <a:ext cx="1417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017520" y="1197864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017520" y="1362456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for compliance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303520" y="1115568"/>
            <a:ext cx="1417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394960" y="1197864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94960" y="1362456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instant decoder tool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371600" y="1572768"/>
            <a:ext cx="1280160" cy="105156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566160" y="1572768"/>
            <a:ext cx="1280160" cy="105156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5943600" y="1572768"/>
            <a:ext cx="1280160" cy="105156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2049780" y="3355848"/>
            <a:ext cx="1417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2141220" y="3438144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141220" y="3602736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additive mixtures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64380" y="3355848"/>
            <a:ext cx="1417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655820" y="3438144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655820" y="3602736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freshness tracking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941820" y="3355848"/>
            <a:ext cx="1417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7033260" y="3438144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033260" y="3602736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food guidance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1371600" y="2633472"/>
            <a:ext cx="1280160" cy="713232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3566160" y="2633472"/>
            <a:ext cx="1280160" cy="713232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5943600" y="2633472"/>
            <a:ext cx="1280160" cy="713232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A8515A34-DFD9-3EAB-EA8D-CDF254D214B3}"/>
              </a:ext>
            </a:extLst>
          </p:cNvPr>
          <p:cNvGrpSpPr/>
          <p:nvPr/>
        </p:nvGrpSpPr>
        <p:grpSpPr>
          <a:xfrm>
            <a:off x="556080" y="3832020"/>
            <a:ext cx="518400" cy="785880"/>
            <a:chOff x="556080" y="3832020"/>
            <a:chExt cx="518400" cy="785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C863E798-F24F-D838-4971-07035B51CB12}"/>
                    </a:ext>
                  </a:extLst>
                </p14:cNvPr>
                <p14:cNvContentPartPr/>
                <p14:nvPr/>
              </p14:nvContentPartPr>
              <p14:xfrm>
                <a:off x="556080" y="3832020"/>
                <a:ext cx="363240" cy="5878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863E798-F24F-D838-4971-07035B51CB12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93080" y="3769020"/>
                  <a:ext cx="488880" cy="71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D257B99-13E6-75EC-D142-3766F9831E6F}"/>
                    </a:ext>
                  </a:extLst>
                </p14:cNvPr>
                <p14:cNvContentPartPr/>
                <p14:nvPr/>
              </p14:nvContentPartPr>
              <p14:xfrm>
                <a:off x="1074120" y="4617540"/>
                <a:ext cx="360" cy="3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D257B99-13E6-75EC-D142-3766F9831E6F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11480" y="455454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347472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Whys Technique - Root Cause Drill-Down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932688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 Whys technique (HUM 4412 Module 5) asks why repeatedly to uncover root cause.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1261872"/>
            <a:ext cx="406908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1344168"/>
            <a:ext cx="4069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1 - Nutritional Ignorance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1261872"/>
            <a:ext cx="406908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663440" y="1344168"/>
            <a:ext cx="4069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2 - Food Waste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1627632"/>
            <a:ext cx="4069080" cy="493776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11480" y="1627632"/>
            <a:ext cx="384048" cy="4937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11480" y="178308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32688" y="1773936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 buy unhealthy food without knowing ingredient risks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411480" y="2176272"/>
            <a:ext cx="4069080" cy="493776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11480" y="2176272"/>
            <a:ext cx="384048" cy="4937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11480" y="233172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32688" y="2322576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do not check ingredient labels before purchase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411480" y="2724912"/>
            <a:ext cx="4069080" cy="493776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11480" y="2724912"/>
            <a:ext cx="384048" cy="4937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11480" y="288036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32688" y="2871216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are complex (2.9/5 understanding, 84% confusion)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411480" y="3273552"/>
            <a:ext cx="4069080" cy="493776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11480" y="3273552"/>
            <a:ext cx="384048" cy="4937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11480" y="342900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32688" y="3419856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simple real-time decoding tool exists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411480" y="3822192"/>
            <a:ext cx="4069080" cy="493776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411480" y="3822192"/>
            <a:ext cx="384048" cy="4937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11480" y="397764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32688" y="3968496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No accessible food intelligence tool for Indian consumers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4663440" y="1627632"/>
            <a:ext cx="4069080" cy="493776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663440" y="1627632"/>
            <a:ext cx="384048" cy="4937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663440" y="178308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84648" y="1773936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 waste groceries regularly (73% at least sometimes)</a:t>
            </a:r>
            <a:endParaRPr lang="en-US" sz="930" dirty="0"/>
          </a:p>
        </p:txBody>
      </p:sp>
      <p:sp>
        <p:nvSpPr>
          <p:cNvPr id="34" name="Shape 32"/>
          <p:cNvSpPr/>
          <p:nvPr/>
        </p:nvSpPr>
        <p:spPr>
          <a:xfrm>
            <a:off x="4663440" y="2176272"/>
            <a:ext cx="4069080" cy="493776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4663440" y="2176272"/>
            <a:ext cx="384048" cy="4937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663440" y="233172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184648" y="2322576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forget pantry items and expiry timelines</a:t>
            </a:r>
            <a:endParaRPr lang="en-US" sz="930" dirty="0"/>
          </a:p>
        </p:txBody>
      </p:sp>
      <p:sp>
        <p:nvSpPr>
          <p:cNvPr id="38" name="Shape 36"/>
          <p:cNvSpPr/>
          <p:nvPr/>
        </p:nvSpPr>
        <p:spPr>
          <a:xfrm>
            <a:off x="4663440" y="2724912"/>
            <a:ext cx="4069080" cy="493776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4663440" y="2724912"/>
            <a:ext cx="384048" cy="4937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4663440" y="288036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184648" y="2871216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 have no tracking system (Q19)</a:t>
            </a:r>
            <a:endParaRPr lang="en-US" sz="930" dirty="0"/>
          </a:p>
        </p:txBody>
      </p:sp>
      <p:sp>
        <p:nvSpPr>
          <p:cNvPr id="42" name="Shape 40"/>
          <p:cNvSpPr/>
          <p:nvPr/>
        </p:nvSpPr>
        <p:spPr>
          <a:xfrm>
            <a:off x="4663440" y="3273552"/>
            <a:ext cx="4069080" cy="493776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4663440" y="3273552"/>
            <a:ext cx="384048" cy="4937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4663440" y="342900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184648" y="3419856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pantry app for everyday Indian household behavior</a:t>
            </a:r>
            <a:endParaRPr lang="en-US" sz="930" dirty="0"/>
          </a:p>
        </p:txBody>
      </p:sp>
      <p:sp>
        <p:nvSpPr>
          <p:cNvPr id="46" name="Shape 44"/>
          <p:cNvSpPr/>
          <p:nvPr/>
        </p:nvSpPr>
        <p:spPr>
          <a:xfrm>
            <a:off x="4663440" y="3822192"/>
            <a:ext cx="4069080" cy="493776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4663440" y="3822192"/>
            <a:ext cx="384048" cy="4937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4663440" y="397764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5184648" y="3968496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No purchase-to-pantry expiry-aware management app</a:t>
            </a:r>
            <a:endParaRPr lang="en-US" sz="930" dirty="0"/>
          </a:p>
        </p:txBody>
      </p:sp>
      <p:sp>
        <p:nvSpPr>
          <p:cNvPr id="50" name="Shape 48"/>
          <p:cNvSpPr/>
          <p:nvPr/>
        </p:nvSpPr>
        <p:spPr>
          <a:xfrm>
            <a:off x="411480" y="4663440"/>
            <a:ext cx="832104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411480" y="4745736"/>
            <a:ext cx="8321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root causes are solved by a single solution - </a:t>
            </a:r>
            <a:r>
              <a:rPr lang="en-US" sz="1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NutriTrust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FINDINGS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347472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Findings - Nutritional Awareness (n=79)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1920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02920" y="10789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2920" y="139903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rarely or never check ingredients (Q4 scores 1-2)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423160" y="960120"/>
            <a:ext cx="1920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514600" y="10789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84%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514600" y="139903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ingredient labels moderately to very confusing (Q9)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34840" y="960120"/>
            <a:ext cx="1920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526280" y="10789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2.9/5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526280" y="139903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label comprehension score (Q8)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46520" y="960120"/>
            <a:ext cx="1920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537960" y="10789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537960" y="139903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brands before buying (Q6)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" y="2057400"/>
            <a:ext cx="8321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do you check ingredients? (Q4 - scale 1 to 5)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411480" y="234086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1 - Never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645920" y="2313432"/>
            <a:ext cx="5943600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20" name="Shape 18"/>
          <p:cNvSpPr/>
          <p:nvPr/>
        </p:nvSpPr>
        <p:spPr>
          <a:xfrm>
            <a:off x="1645920" y="2313432"/>
            <a:ext cx="772668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21" name="Text 19"/>
          <p:cNvSpPr/>
          <p:nvPr/>
        </p:nvSpPr>
        <p:spPr>
          <a:xfrm>
            <a:off x="2473452" y="2368296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13%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1480" y="2761488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2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1645920" y="2734056"/>
            <a:ext cx="5943600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24" name="Shape 22"/>
          <p:cNvSpPr/>
          <p:nvPr/>
        </p:nvSpPr>
        <p:spPr>
          <a:xfrm>
            <a:off x="1645920" y="2734056"/>
            <a:ext cx="118872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25" name="Text 23"/>
          <p:cNvSpPr/>
          <p:nvPr/>
        </p:nvSpPr>
        <p:spPr>
          <a:xfrm>
            <a:off x="2889504" y="2788920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13360" y="3182112"/>
            <a:ext cx="1386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3 - Sometimes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7" name="Shape 25"/>
          <p:cNvSpPr/>
          <p:nvPr/>
        </p:nvSpPr>
        <p:spPr>
          <a:xfrm>
            <a:off x="1645920" y="3154680"/>
            <a:ext cx="5943600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28" name="Shape 26"/>
          <p:cNvSpPr/>
          <p:nvPr/>
        </p:nvSpPr>
        <p:spPr>
          <a:xfrm>
            <a:off x="1645920" y="3154680"/>
            <a:ext cx="2441448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29" name="Text 27"/>
          <p:cNvSpPr/>
          <p:nvPr/>
        </p:nvSpPr>
        <p:spPr>
          <a:xfrm>
            <a:off x="4142232" y="3209544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11480" y="3602736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4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1" name="Shape 29"/>
          <p:cNvSpPr/>
          <p:nvPr/>
        </p:nvSpPr>
        <p:spPr>
          <a:xfrm>
            <a:off x="1645920" y="3575304"/>
            <a:ext cx="5943600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32" name="Shape 30"/>
          <p:cNvSpPr/>
          <p:nvPr/>
        </p:nvSpPr>
        <p:spPr>
          <a:xfrm>
            <a:off x="1645920" y="3575304"/>
            <a:ext cx="1069848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33" name="Text 31"/>
          <p:cNvSpPr/>
          <p:nvPr/>
        </p:nvSpPr>
        <p:spPr>
          <a:xfrm>
            <a:off x="2770632" y="3630168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11480" y="394106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5 - Always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5" name="Shape 33"/>
          <p:cNvSpPr/>
          <p:nvPr/>
        </p:nvSpPr>
        <p:spPr>
          <a:xfrm>
            <a:off x="1645920" y="3913632"/>
            <a:ext cx="5943600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36" name="Shape 34"/>
          <p:cNvSpPr/>
          <p:nvPr/>
        </p:nvSpPr>
        <p:spPr>
          <a:xfrm>
            <a:off x="1650492" y="3921252"/>
            <a:ext cx="534924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37" name="Text 35"/>
          <p:cNvSpPr/>
          <p:nvPr/>
        </p:nvSpPr>
        <p:spPr>
          <a:xfrm>
            <a:off x="2240280" y="3976116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11480" y="4376928"/>
            <a:ext cx="8321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411480" y="4376928"/>
            <a:ext cx="54864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530352" y="4541520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Despite 76% having some awareness of additive risks, 73% do not consistently check labels. The barrier is label complexity, not awareness.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FINDINGS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347472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Findings - Food Waste &amp; Expiry (n=79)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1920240" cy="960120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02920" y="10789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39%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" y="134416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consumed expired food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(unknowingly or knowingly)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455164" y="941832"/>
            <a:ext cx="1920240" cy="960120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514600" y="10789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514600" y="134416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food at least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sometimes (Q23)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34840" y="960120"/>
            <a:ext cx="1920240" cy="960120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526280" y="10789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26280" y="134416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pantry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system (Q19)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46520" y="960120"/>
            <a:ext cx="1920240" cy="960120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537960" y="10789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4.0/5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537960" y="134416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 reminders rated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helpful (Q21 avg)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96240" y="2095500"/>
            <a:ext cx="8321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respondents currently track groceries (Q19)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1480" y="2331720"/>
            <a:ext cx="1783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to remember (56%)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286000" y="2304288"/>
            <a:ext cx="4754880" cy="18288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20" name="Shape 18"/>
          <p:cNvSpPr/>
          <p:nvPr/>
        </p:nvSpPr>
        <p:spPr>
          <a:xfrm>
            <a:off x="2286000" y="2304288"/>
            <a:ext cx="3328416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21" name="Text 19"/>
          <p:cNvSpPr/>
          <p:nvPr/>
        </p:nvSpPr>
        <p:spPr>
          <a:xfrm>
            <a:off x="411480" y="2642616"/>
            <a:ext cx="1783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check the fridge (38%)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286000" y="2615184"/>
            <a:ext cx="4754880" cy="18288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23" name="Shape 21"/>
          <p:cNvSpPr/>
          <p:nvPr/>
        </p:nvSpPr>
        <p:spPr>
          <a:xfrm>
            <a:off x="2286000" y="2615184"/>
            <a:ext cx="2258568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24" name="Text 22"/>
          <p:cNvSpPr/>
          <p:nvPr/>
        </p:nvSpPr>
        <p:spPr>
          <a:xfrm>
            <a:off x="411480" y="2953512"/>
            <a:ext cx="1783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it down (5%)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286000" y="2926080"/>
            <a:ext cx="4754880" cy="18288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26" name="Shape 24"/>
          <p:cNvSpPr/>
          <p:nvPr/>
        </p:nvSpPr>
        <p:spPr>
          <a:xfrm>
            <a:off x="2286000" y="2926080"/>
            <a:ext cx="297180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27" name="Text 25"/>
          <p:cNvSpPr/>
          <p:nvPr/>
        </p:nvSpPr>
        <p:spPr>
          <a:xfrm>
            <a:off x="411480" y="3264408"/>
            <a:ext cx="1783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an app (1%)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286000" y="3236976"/>
            <a:ext cx="4754880" cy="18288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29" name="Shape 27"/>
          <p:cNvSpPr/>
          <p:nvPr/>
        </p:nvSpPr>
        <p:spPr>
          <a:xfrm>
            <a:off x="2286000" y="3236976"/>
            <a:ext cx="59436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30" name="Text 28"/>
          <p:cNvSpPr/>
          <p:nvPr/>
        </p:nvSpPr>
        <p:spPr>
          <a:xfrm>
            <a:off x="384048" y="3639312"/>
            <a:ext cx="8321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waste frequency (Q23)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11480" y="3899916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11%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572768" y="3872484"/>
            <a:ext cx="2651760" cy="14630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33" name="Shape 31"/>
          <p:cNvSpPr/>
          <p:nvPr/>
        </p:nvSpPr>
        <p:spPr>
          <a:xfrm>
            <a:off x="1572768" y="3872484"/>
            <a:ext cx="804672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34" name="Text 32"/>
          <p:cNvSpPr/>
          <p:nvPr/>
        </p:nvSpPr>
        <p:spPr>
          <a:xfrm>
            <a:off x="411480" y="4128516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Rarely 15%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572768" y="4101084"/>
            <a:ext cx="2651760" cy="14630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36" name="Shape 34"/>
          <p:cNvSpPr/>
          <p:nvPr/>
        </p:nvSpPr>
        <p:spPr>
          <a:xfrm>
            <a:off x="1572768" y="4101084"/>
            <a:ext cx="1097280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37" name="Text 35"/>
          <p:cNvSpPr/>
          <p:nvPr/>
        </p:nvSpPr>
        <p:spPr>
          <a:xfrm>
            <a:off x="411480" y="4357116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Sometimes 35%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572768" y="4329684"/>
            <a:ext cx="2651760" cy="14630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39" name="Shape 37"/>
          <p:cNvSpPr/>
          <p:nvPr/>
        </p:nvSpPr>
        <p:spPr>
          <a:xfrm>
            <a:off x="1572768" y="4329684"/>
            <a:ext cx="2560320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40" name="Text 38"/>
          <p:cNvSpPr/>
          <p:nvPr/>
        </p:nvSpPr>
        <p:spPr>
          <a:xfrm>
            <a:off x="411480" y="4585716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32%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1572768" y="4558284"/>
            <a:ext cx="2651760" cy="14630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42" name="Shape 40"/>
          <p:cNvSpPr/>
          <p:nvPr/>
        </p:nvSpPr>
        <p:spPr>
          <a:xfrm>
            <a:off x="1572768" y="4558284"/>
            <a:ext cx="2340864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43" name="Text 41"/>
          <p:cNvSpPr/>
          <p:nvPr/>
        </p:nvSpPr>
        <p:spPr>
          <a:xfrm>
            <a:off x="411480" y="4814316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often 6%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1572768" y="4786884"/>
            <a:ext cx="2651760" cy="14630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45" name="Shape 43"/>
          <p:cNvSpPr/>
          <p:nvPr/>
        </p:nvSpPr>
        <p:spPr>
          <a:xfrm>
            <a:off x="1536192" y="4786884"/>
            <a:ext cx="438912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46" name="Shape 44"/>
          <p:cNvSpPr/>
          <p:nvPr/>
        </p:nvSpPr>
        <p:spPr>
          <a:xfrm>
            <a:off x="4953000" y="3691128"/>
            <a:ext cx="3779520" cy="871728"/>
          </a:xfrm>
          <a:prstGeom prst="rect">
            <a:avLst/>
          </a:prstGeom>
          <a:solidFill>
            <a:srgbClr val="112233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5044440" y="3753612"/>
            <a:ext cx="3550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 have no pantry system - the issue is not willingness, but absence of a simple, accessible tool.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EMPATHIZE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347472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Personas - Derived from Survey &amp; Research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411480" y="932688"/>
            <a:ext cx="8321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HUM 4412 Customer Persona framework - research-backed profiles of target users.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40690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Shape 5"/>
          <p:cNvSpPr/>
          <p:nvPr/>
        </p:nvSpPr>
        <p:spPr>
          <a:xfrm>
            <a:off x="4663440" y="1078992"/>
            <a:ext cx="40690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11480" y="1078992"/>
            <a:ext cx="40690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30352" y="1197864"/>
            <a:ext cx="3794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1 - THE ACTIVE CONSUMER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94360" y="1554480"/>
            <a:ext cx="658368" cy="6583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94360" y="15544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166420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Ritanshu Kumar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12164" y="1965960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20 · Bengaluru ·: </a:t>
            </a:r>
            <a:r>
              <a:rPr lang="en-US" sz="13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</a:t>
            </a: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CSE, Year 3</a:t>
            </a:r>
          </a:p>
          <a:p>
            <a:pPr marL="0" indent="0">
              <a:buNone/>
            </a:pP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" y="2299716"/>
            <a:ext cx="370332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 sz="1300"/>
          </a:p>
        </p:txBody>
      </p:sp>
      <p:sp>
        <p:nvSpPr>
          <p:cNvPr id="15" name="Text 13"/>
          <p:cNvSpPr/>
          <p:nvPr/>
        </p:nvSpPr>
        <p:spPr>
          <a:xfrm>
            <a:off x="594360" y="2212848"/>
            <a:ext cx="3703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Buys packaged food daily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Rarely checks labels (score 1-2)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pantry by visual fridge checks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quick, low-effort healthy decisions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Pain: additive names are unclear</a:t>
            </a:r>
          </a:p>
          <a:p>
            <a:pPr marL="342900" indent="-342900">
              <a:buSzPct val="100000"/>
              <a:buChar char="•"/>
            </a:pPr>
            <a:r>
              <a:rPr lang="en-US" sz="1300" dirty="0" err="1"/>
              <a:t>NutriTrust</a:t>
            </a:r>
            <a:r>
              <a:rPr lang="en-US" sz="1300" dirty="0"/>
              <a:t> value: Barcode scanner + expiry alerts</a:t>
            </a:r>
          </a:p>
          <a:p>
            <a:pPr marL="342900" indent="-342900">
              <a:buSzPct val="100000"/>
              <a:buChar char="•"/>
            </a:pP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4360" y="4133088"/>
            <a:ext cx="3337560" cy="475488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 sz="1300"/>
          </a:p>
        </p:txBody>
      </p:sp>
      <p:sp>
        <p:nvSpPr>
          <p:cNvPr id="17" name="Text 15"/>
          <p:cNvSpPr/>
          <p:nvPr/>
        </p:nvSpPr>
        <p:spPr>
          <a:xfrm>
            <a:off x="713232" y="4279392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i="1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just grab whatever I have had before. If it did not kill me, it is fine."</a:t>
            </a:r>
            <a:endParaRPr lang="en-US" sz="13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663440" y="1078992"/>
            <a:ext cx="40690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782312" y="1197864"/>
            <a:ext cx="3794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2 - THE MINDFUL HOMEMAKER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46320" y="1554480"/>
            <a:ext cx="658368" cy="6583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846320" y="15544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623560" y="166420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/>
              <a:t>Sowmya Shetty</a:t>
            </a:r>
          </a:p>
        </p:txBody>
      </p:sp>
      <p:sp>
        <p:nvSpPr>
          <p:cNvPr id="23" name="Text 21"/>
          <p:cNvSpPr/>
          <p:nvPr/>
        </p:nvSpPr>
        <p:spPr>
          <a:xfrm>
            <a:off x="5623560" y="1901952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42 · </a:t>
            </a:r>
            <a:r>
              <a:rPr lang="en-US" sz="13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Brahmavar</a:t>
            </a: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Homemaker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46320" y="2290572"/>
            <a:ext cx="370332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 sz="1300"/>
          </a:p>
        </p:txBody>
      </p:sp>
      <p:sp>
        <p:nvSpPr>
          <p:cNvPr id="25" name="Text 23"/>
          <p:cNvSpPr/>
          <p:nvPr/>
        </p:nvSpPr>
        <p:spPr>
          <a:xfrm>
            <a:off x="4846320" y="2212848"/>
            <a:ext cx="3703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Buys packaged products occasionally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labels sometimes (score 3)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groceries by memory/list notes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reduce monthly household waste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Pain: expiry and label complexity</a:t>
            </a:r>
          </a:p>
          <a:p>
            <a:pPr marL="342900" indent="-342900">
              <a:buSzPct val="100000"/>
              <a:buChar char="•"/>
            </a:pPr>
            <a:r>
              <a:rPr lang="en-US" sz="1300" dirty="0" err="1"/>
              <a:t>NutriTrust</a:t>
            </a:r>
            <a:r>
              <a:rPr lang="en-US" sz="1300" dirty="0"/>
              <a:t> value: Health rating + ingredient explainer + recipe suggestions</a:t>
            </a:r>
          </a:p>
          <a:p>
            <a:pPr marL="342900" indent="-342900">
              <a:buSzPct val="100000"/>
              <a:buChar char="•"/>
            </a:pP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846320" y="4133088"/>
            <a:ext cx="3337560" cy="475488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 sz="1300"/>
          </a:p>
        </p:txBody>
      </p:sp>
      <p:sp>
        <p:nvSpPr>
          <p:cNvPr id="27" name="Text 25"/>
          <p:cNvSpPr/>
          <p:nvPr/>
        </p:nvSpPr>
        <p:spPr>
          <a:xfrm>
            <a:off x="4965192" y="4279392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want better decisions, but labels are hard to decode quickly."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347472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Data to Robust Insights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932688"/>
            <a:ext cx="8321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 journey - raw data to validated POV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1234440"/>
            <a:ext cx="1481328" cy="713232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84632" y="1399032"/>
            <a:ext cx="13350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84632" y="1581912"/>
            <a:ext cx="13350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 surveys + 8 interviews + notes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938528" y="1435608"/>
            <a:ext cx="73152" cy="228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011680" y="1234440"/>
            <a:ext cx="1481328" cy="713232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084832" y="1399032"/>
            <a:ext cx="13350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084832" y="1581912"/>
            <a:ext cx="13350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Affinity mapping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538728" y="1435608"/>
            <a:ext cx="73152" cy="228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611880" y="1234440"/>
            <a:ext cx="1481328" cy="713232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685032" y="1399032"/>
            <a:ext cx="13350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85032" y="1581912"/>
            <a:ext cx="13350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core themes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138928" y="1435608"/>
            <a:ext cx="73152" cy="228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5212080" y="1234440"/>
            <a:ext cx="1481328" cy="713232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285232" y="1399032"/>
            <a:ext cx="13350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285232" y="1581912"/>
            <a:ext cx="13350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739128" y="1435608"/>
            <a:ext cx="73152" cy="228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6812280" y="1234440"/>
            <a:ext cx="1481328" cy="713232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885432" y="1399032"/>
            <a:ext cx="13350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 STATEMENT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885432" y="1581912"/>
            <a:ext cx="13350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11480" y="2084832"/>
            <a:ext cx="4069080" cy="621792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66928" y="2221992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1: Nutritional Blindness at Purchase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66928" y="2423160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 do not consistently check labels; 84% report confusion.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63440" y="2084832"/>
            <a:ext cx="4069080" cy="621792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818888" y="2221992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2: Reactive Pantry Management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18888" y="2423160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 rely on memory/fridge checks; 73% waste food regularly.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11480" y="2816352"/>
            <a:ext cx="4069080" cy="594360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411480" y="2816352"/>
            <a:ext cx="54864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548640" y="3026664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 no pantry system -&gt; reactive, not proactive behavior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63440" y="2816352"/>
            <a:ext cx="4069080" cy="594360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4663440" y="2816352"/>
            <a:ext cx="54864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800600" y="3026664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33% never check labels -&gt; complexity barrier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11480" y="3502152"/>
            <a:ext cx="4069080" cy="594360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411480" y="3502152"/>
            <a:ext cx="54864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548640" y="3712464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39% consumed expired food -&gt; present safety risk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3502152"/>
            <a:ext cx="4069080" cy="594360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4663440" y="3502152"/>
            <a:ext cx="54864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4800600" y="3712464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71% high intent to use </a:t>
            </a:r>
            <a:r>
              <a:rPr lang="en-US" sz="9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NutriTrust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-&gt; validated demand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11480" y="4187952"/>
            <a:ext cx="832104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411480" y="4306824"/>
            <a:ext cx="8321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directly shaped the final POV statement and </a:t>
            </a:r>
            <a:r>
              <a:rPr lang="en-US" sz="10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NutriTrust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core features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347472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Objectives &amp; Hypotheses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4069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Objectives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234440"/>
            <a:ext cx="4069080" cy="749808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75488" y="1472184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75488" y="1472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" y="1508760"/>
            <a:ext cx="3401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O1: Assess impact of real-time ratings on informed purchase behavior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480" y="2075688"/>
            <a:ext cx="4069080" cy="749808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75488" y="2313432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75488" y="23134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60120" y="2350008"/>
            <a:ext cx="3401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O2: Evaluate smart pantry tracking + expiry alerts in reducing waste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2916936"/>
            <a:ext cx="4069080" cy="749808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75488" y="3154680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75488" y="3154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60120" y="3191256"/>
            <a:ext cx="3401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O3: Examine AI recipe suggestion effect on ingredient utilization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3758184"/>
            <a:ext cx="4069080" cy="749808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75488" y="3995928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75488" y="3995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60120" y="4032504"/>
            <a:ext cx="3401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O4: Measure acceptance of </a:t>
            </a:r>
            <a:r>
              <a:rPr lang="en-US" sz="95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NutriTrust</a:t>
            </a: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using TAM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663440" y="960120"/>
            <a:ext cx="4069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Hypotheses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63440" y="1234440"/>
            <a:ext cx="4069080" cy="621792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663440" y="1234440"/>
            <a:ext cx="50292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663440" y="143560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257800" y="1435608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barcode info -&gt; informed healthier purchase decisions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211312" y="1325880"/>
            <a:ext cx="438912" cy="201168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8211312" y="1380744"/>
            <a:ext cx="4389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HBM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663440" y="1929384"/>
            <a:ext cx="4069080" cy="621792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663440" y="1929384"/>
            <a:ext cx="50292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663440" y="213055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257800" y="213055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 alerts -&gt; significantly reduced food wastage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211312" y="2020824"/>
            <a:ext cx="438912" cy="201168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8211312" y="2075688"/>
            <a:ext cx="4389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Nudge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663440" y="2624328"/>
            <a:ext cx="4069080" cy="621792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4663440" y="2624328"/>
            <a:ext cx="50292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663440" y="2825496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257800" y="2825496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recipes from expiring ingredients -&gt; higher utilization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211312" y="2715768"/>
            <a:ext cx="438912" cy="201168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8211312" y="2770632"/>
            <a:ext cx="4389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Nudge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663440" y="3319272"/>
            <a:ext cx="4069080" cy="621792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4663440" y="3319272"/>
            <a:ext cx="50292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4663440" y="3520440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257800" y="3520440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Diet-preference filtering -&gt; improved trust and engagement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211312" y="3410712"/>
            <a:ext cx="438912" cy="201168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8211312" y="3465576"/>
            <a:ext cx="4389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663440" y="4014216"/>
            <a:ext cx="4069080" cy="621792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4663440" y="4014216"/>
            <a:ext cx="50292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4663440" y="4215384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H5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5257800" y="4215384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ratings outperform raw labels in influencing choice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8211312" y="4105656"/>
            <a:ext cx="438912" cy="201168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8211312" y="4160520"/>
            <a:ext cx="4389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HBM+TAM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11480" y="4828032"/>
            <a:ext cx="8321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HBM = Health Belief Model  |  TAM = Technology Acceptance Model  |  Nudge = Nudge Theory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347472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Methodology &amp; Questionnaire Design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4069080" cy="658368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39496" y="105156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Design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39496" y="129844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+ Exploratory mixed-method design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960120"/>
            <a:ext cx="4069080" cy="658368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791456" y="105156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Approach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791456" y="129844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survey + Qualitative interviews &amp; observation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1709928"/>
            <a:ext cx="4069080" cy="658368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39496" y="1801368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Population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39496" y="204825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consumers 18-60 across all occupation types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709928"/>
            <a:ext cx="4069080" cy="658368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791456" y="1801368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Method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791456" y="204825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Purposive + Snowball via networks and communities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2459736"/>
            <a:ext cx="4069080" cy="658368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39496" y="255117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Size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39496" y="279806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 respondents achieved (target: 100+)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2459736"/>
            <a:ext cx="4069080" cy="658368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791456" y="255117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791456" y="279806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30-Q form + interviews + observational study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1480" y="3209544"/>
            <a:ext cx="4069080" cy="658368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39496" y="3300984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39496" y="354787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stats, Likert scale, thematic coding, affinity mapping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3209544"/>
            <a:ext cx="4069080" cy="658368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791456" y="3300984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791456" y="354787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Next.js, Supabase, Open Food Facts API, Gemini AI, Vercel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11480" y="4041648"/>
            <a:ext cx="8321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Structure - 30 Questions across 4 Stages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11480" y="4224528"/>
            <a:ext cx="1965960" cy="438912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11480" y="4224528"/>
            <a:ext cx="1965960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11480" y="4306824"/>
            <a:ext cx="1965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11480" y="4498848"/>
            <a:ext cx="1965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Habits · Q1-Q9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432304" y="4224528"/>
            <a:ext cx="1965960" cy="438912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2432304" y="4224528"/>
            <a:ext cx="1965960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2432304" y="4306824"/>
            <a:ext cx="1965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432304" y="4498848"/>
            <a:ext cx="1965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Expiry · Q10-Q22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453128" y="4224528"/>
            <a:ext cx="1965960" cy="438912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4453128" y="4224528"/>
            <a:ext cx="1965960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4453128" y="4306824"/>
            <a:ext cx="1965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453128" y="4498848"/>
            <a:ext cx="1965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Behaviour · Q23-Q26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473952" y="4224528"/>
            <a:ext cx="1965960" cy="438912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6473952" y="4224528"/>
            <a:ext cx="1965960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6473952" y="4306824"/>
            <a:ext cx="1965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473952" y="4498848"/>
            <a:ext cx="1965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Intent · Q27-Q30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347472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Problem Definition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411480" y="932688"/>
            <a:ext cx="8321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of View (POV) Statement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411480" y="1115568"/>
            <a:ext cx="8321040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66928" y="1408176"/>
            <a:ext cx="8001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consumers need a way to make informed food choices and avoid waste - because they shop with limited nutritional knowledge and have no system to track what they own or when it expires.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2121408"/>
            <a:ext cx="8321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Problem Statement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411480" y="2304288"/>
            <a:ext cx="83210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11480" y="2304288"/>
            <a:ext cx="54864" cy="8046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30352" y="257860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consumers across India lack accessible tools to evaluate packaged-food nutrition at point of purchase and systematically track perishable groceries, resulting in uninformed dietary choices and avoidable waste.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11480" y="3246120"/>
            <a:ext cx="8321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Contributing Sub-Problems (Survey-Validated)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11480" y="3456432"/>
            <a:ext cx="438912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11480" y="3557016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60120" y="3456432"/>
            <a:ext cx="674827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097280" y="3557016"/>
            <a:ext cx="6446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tool to decode Indian packaged food labels at purchase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726680" y="3456432"/>
            <a:ext cx="1005840" cy="32004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726680" y="3557016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Q4,Q8,Q9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11480" y="3849624"/>
            <a:ext cx="438912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11480" y="3950208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60120" y="3849624"/>
            <a:ext cx="674827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1097280" y="3950208"/>
            <a:ext cx="6446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integrated system connecting purchase to expiry-aware pantry tracking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726680" y="3849624"/>
            <a:ext cx="1005840" cy="32004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7726680" y="3950208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Q19,Q21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11480" y="4242816"/>
            <a:ext cx="438912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11480" y="43434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60120" y="4242816"/>
            <a:ext cx="674827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1097280" y="4343400"/>
            <a:ext cx="6446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awareness of additives, processing levels, and banned ingredients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726680" y="4242816"/>
            <a:ext cx="1005840" cy="32004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7726680" y="4343400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Q11,Q13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11480" y="4636008"/>
            <a:ext cx="438912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11480" y="473659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60120" y="4636008"/>
            <a:ext cx="674827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1097280" y="4736592"/>
            <a:ext cx="6446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AI recipe guidance to utilize food before spoilage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726680" y="4636008"/>
            <a:ext cx="1005840" cy="32004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7726680" y="4736592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Q23,Q26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1997</Words>
  <Application>Microsoft Office PowerPoint</Application>
  <PresentationFormat>On-screen Show (16:9)</PresentationFormat>
  <Paragraphs>406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HM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NutriTrusto - Your Smart Pantry Companion</dc:title>
  <dc:subject>Stanford d.School Phase 1: Empathize &amp; Define</dc:subject>
  <dc:creator>NutriTrusto Team</dc:creator>
  <cp:lastModifiedBy>NIRAV P SHETTY - 230905213 - MITMPL</cp:lastModifiedBy>
  <cp:revision>2</cp:revision>
  <dcterms:created xsi:type="dcterms:W3CDTF">2026-04-07T18:30:55Z</dcterms:created>
  <dcterms:modified xsi:type="dcterms:W3CDTF">2026-04-07T19:24:05Z</dcterms:modified>
</cp:coreProperties>
</file>